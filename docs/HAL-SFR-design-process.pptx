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현재 검증 펌웨어의 계층 구조와, RTL 완료 후에야 펌웨어 작업이 시작되는 기존 흐름의 세 가지 문제를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제안: SFR은 소프트웨어가 소비하는 계약이므로 소비자(FW 아키텍트)가 설계한다. 역할을 뺏는 것이 아니라 분업의 재조정임을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새 파이프라인: FW 아키텍트가 요구사항부터 SFR·HAL까지 완성하면 RTL 설계에 명세로 입력되고, RTL 완료 즉시 자동 검증. AI 개입 지점 두 곳을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실전 예제: NFC에 E/P Suspend-Resume 추가. 기존 SFR 맵 대비 변경안을 보여주고, AI 가드레일이 실제로 어떻게 작동했는지 4가지 근거로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 API·상태 머신·구현 코드. suspend가 ctx를 반환하고 resume이 받는 타입 수준 안전장치. 이 코드가 그대로 첫 번째 검증 테스트가 된다는 결론으로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핵심을 정리하고 핵심 메시지로 마무리: 계약은 소비자가 설계한다. NFC 예제로 검증된 방식이므로 다음 IP부터 적용 가능하다는 제안으로 끝맺음.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과제에 적용할 실행 계획: EA에서 명세, DR에서 HAL prototype 결정, 1주 내 계약 확정 후 설계자 전달, RTL 설계, SVP에서 FPGA 검증, FFN 확정. 마일스톤별 산출물과 형식을 짚어준다.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38150"/>
            <a:ext cx="9015316" cy="595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— 검증 펌웨어의 계층 구조와 기존 개발 흐름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15003214" y="642938"/>
            <a:ext cx="2775064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07 · SoC 검증 FW × AI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62000" y="1185863"/>
            <a:ext cx="7597453" cy="7528620"/>
          </a:xfrm>
          <a:prstGeom prst="roundRect">
            <a:avLst>
              <a:gd name="adj" fmla="val 17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9650" y="1395413"/>
            <a:ext cx="78123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 LAYERS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9650" y="1795463"/>
            <a:ext cx="5292403" cy="1265634"/>
          </a:xfrm>
          <a:prstGeom prst="roundRect">
            <a:avLst>
              <a:gd name="adj" fmla="val 7526"/>
            </a:avLst>
          </a:prstGeom>
          <a:solidFill>
            <a:srgbClr val="F2F2F7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2278261"/>
            <a:ext cx="146570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4855369" y="2285405"/>
            <a:ext cx="136084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비즈니스 로직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09650" y="3156347"/>
            <a:ext cx="5292403" cy="1265709"/>
          </a:xfrm>
          <a:prstGeom prst="roundRect">
            <a:avLst>
              <a:gd name="adj" fmla="val 7525"/>
            </a:avLst>
          </a:prstGeom>
          <a:solidFill>
            <a:srgbClr val="F2F2F7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3639145"/>
            <a:ext cx="77799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009650" y="4517306"/>
            <a:ext cx="5292403" cy="1265709"/>
          </a:xfrm>
          <a:prstGeom prst="roundRect">
            <a:avLst>
              <a:gd name="adj" fmla="val 7525"/>
            </a:avLst>
          </a:prstGeom>
          <a:solidFill>
            <a:srgbClr val="007AFF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219200" y="5000104"/>
            <a:ext cx="58251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4211464" y="5007248"/>
            <a:ext cx="20691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함수 수준 인터페이스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09650" y="5878264"/>
            <a:ext cx="5292403" cy="1265709"/>
          </a:xfrm>
          <a:prstGeom prst="roundRect">
            <a:avLst>
              <a:gd name="adj" fmla="val 7525"/>
            </a:avLst>
          </a:prstGeom>
          <a:solidFill>
            <a:srgbClr val="007AFF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219200" y="6361063"/>
            <a:ext cx="54582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SFR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3815953" y="6368207"/>
            <a:ext cx="25042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레지스터 수준 인터페이스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09650" y="7239223"/>
            <a:ext cx="5292403" cy="1265709"/>
          </a:xfrm>
          <a:prstGeom prst="roundRect">
            <a:avLst>
              <a:gd name="adj" fmla="val 7525"/>
            </a:avLst>
          </a:prstGeom>
          <a:solidFill>
            <a:srgbClr val="E5E5EA"/>
          </a:solidFill>
          <a:ln/>
        </p:spPr>
      </p:sp>
      <p:sp>
        <p:nvSpPr>
          <p:cNvPr id="18" name="Text 16"/>
          <p:cNvSpPr/>
          <p:nvPr/>
        </p:nvSpPr>
        <p:spPr>
          <a:xfrm>
            <a:off x="1219200" y="7722022"/>
            <a:ext cx="120908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5694536" y="7738690"/>
            <a:ext cx="4741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397303" y="7144048"/>
            <a:ext cx="171450" cy="1905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397303" y="4479206"/>
            <a:ext cx="171450" cy="1905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549703" y="4479206"/>
            <a:ext cx="19050" cy="2683892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23" name="Text 21"/>
          <p:cNvSpPr/>
          <p:nvPr/>
        </p:nvSpPr>
        <p:spPr>
          <a:xfrm>
            <a:off x="6664003" y="4747617"/>
            <a:ext cx="131489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HW/SW Interface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607103" y="1185863"/>
            <a:ext cx="8918897" cy="7528620"/>
          </a:xfrm>
          <a:prstGeom prst="roundRect">
            <a:avLst>
              <a:gd name="adj" fmla="val 17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854753" y="1395413"/>
            <a:ext cx="926595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개발 순서 — 전부 순차·후행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035728" y="2005013"/>
            <a:ext cx="19050" cy="6309420"/>
          </a:xfrm>
          <a:prstGeom prst="rect">
            <a:avLst/>
          </a:prstGeom>
          <a:solidFill>
            <a:srgbClr val="E5E5EA"/>
          </a:solidFill>
          <a:ln/>
        </p:spPr>
      </p:sp>
      <p:sp>
        <p:nvSpPr>
          <p:cNvPr id="27" name="Shape 25"/>
          <p:cNvSpPr/>
          <p:nvPr/>
        </p:nvSpPr>
        <p:spPr>
          <a:xfrm>
            <a:off x="8854753" y="1814513"/>
            <a:ext cx="400050" cy="400050"/>
          </a:xfrm>
          <a:prstGeom prst="ellipse">
            <a:avLst/>
          </a:prstGeom>
          <a:solidFill>
            <a:srgbClr val="F2F2F7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26178" y="1824038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3C43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407203" y="1857375"/>
            <a:ext cx="70092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설계 완료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5931679" y="1843088"/>
            <a:ext cx="1346671" cy="342900"/>
          </a:xfrm>
          <a:prstGeom prst="roundRect">
            <a:avLst>
              <a:gd name="adj" fmla="val 50000"/>
            </a:avLst>
          </a:prstGeom>
          <a:solidFill>
            <a:srgbClr val="787880">
              <a:alpha val="16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6084079" y="1871663"/>
            <a:ext cx="1176538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설계자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854753" y="3084016"/>
            <a:ext cx="400050" cy="400050"/>
          </a:xfrm>
          <a:prstGeom prst="ellipse">
            <a:avLst/>
          </a:prstGeom>
          <a:solidFill>
            <a:srgbClr val="F2F2F7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26178" y="3093541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3C43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407203" y="3126879"/>
            <a:ext cx="70092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SFR 문서 작성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15931679" y="3112591"/>
            <a:ext cx="1346671" cy="342900"/>
          </a:xfrm>
          <a:prstGeom prst="roundRect">
            <a:avLst>
              <a:gd name="adj" fmla="val 50000"/>
            </a:avLst>
          </a:prstGeom>
          <a:solidFill>
            <a:srgbClr val="787880">
              <a:alpha val="16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6084079" y="3141166"/>
            <a:ext cx="1176538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설계자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854753" y="4353520"/>
            <a:ext cx="400050" cy="400050"/>
          </a:xfrm>
          <a:prstGeom prst="ellipse">
            <a:avLst/>
          </a:prstGeom>
          <a:solidFill>
            <a:srgbClr val="F2F2F7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26178" y="4363045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3C43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407203" y="4396383"/>
            <a:ext cx="70092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프로그래머스 가이드에 SFR 설정 시퀀스 작성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15931679" y="4382095"/>
            <a:ext cx="1346671" cy="342900"/>
          </a:xfrm>
          <a:prstGeom prst="roundRect">
            <a:avLst>
              <a:gd name="adj" fmla="val 50000"/>
            </a:avLst>
          </a:prstGeom>
          <a:solidFill>
            <a:srgbClr val="787880">
              <a:alpha val="16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6084079" y="4410670"/>
            <a:ext cx="1176538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설계자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854753" y="5623024"/>
            <a:ext cx="381000" cy="381000"/>
          </a:xfrm>
          <a:prstGeom prst="ellipse">
            <a:avLst/>
          </a:prstGeom>
          <a:solidFill>
            <a:srgbClr val="007AFF">
              <a:alpha val="1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816653" y="5623024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388153" y="5656362"/>
            <a:ext cx="70886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SFR 헤더 생성</a:t>
            </a:r>
            <a:endParaRPr lang="en-US" sz="1950" dirty="0"/>
          </a:p>
        </p:txBody>
      </p:sp>
      <p:sp>
        <p:nvSpPr>
          <p:cNvPr id="45" name="Shape 43"/>
          <p:cNvSpPr/>
          <p:nvPr/>
        </p:nvSpPr>
        <p:spPr>
          <a:xfrm>
            <a:off x="15984810" y="5642074"/>
            <a:ext cx="1293540" cy="342900"/>
          </a:xfrm>
          <a:prstGeom prst="roundRect">
            <a:avLst>
              <a:gd name="adj" fmla="val 50000"/>
            </a:avLst>
          </a:prstGeom>
          <a:solidFill>
            <a:srgbClr val="007AFF">
              <a:alpha val="1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6137210" y="5670649"/>
            <a:ext cx="1118094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FW 개발자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8854753" y="6873478"/>
            <a:ext cx="381000" cy="381000"/>
          </a:xfrm>
          <a:prstGeom prst="ellipse">
            <a:avLst/>
          </a:prstGeom>
          <a:solidFill>
            <a:srgbClr val="007AFF">
              <a:alpha val="1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8816653" y="6873478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9388153" y="6906816"/>
            <a:ext cx="70886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 코드 구현</a:t>
            </a:r>
            <a:endParaRPr lang="en-US" sz="1950" dirty="0"/>
          </a:p>
        </p:txBody>
      </p:sp>
      <p:sp>
        <p:nvSpPr>
          <p:cNvPr id="50" name="Shape 48"/>
          <p:cNvSpPr/>
          <p:nvPr/>
        </p:nvSpPr>
        <p:spPr>
          <a:xfrm>
            <a:off x="15984810" y="6892528"/>
            <a:ext cx="1293540" cy="342900"/>
          </a:xfrm>
          <a:prstGeom prst="roundRect">
            <a:avLst>
              <a:gd name="adj" fmla="val 50000"/>
            </a:avLst>
          </a:prstGeom>
          <a:solidFill>
            <a:srgbClr val="007AFF">
              <a:alpha val="1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6137210" y="6921103"/>
            <a:ext cx="1118094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FW 개발자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8854753" y="8123932"/>
            <a:ext cx="381000" cy="381000"/>
          </a:xfrm>
          <a:prstGeom prst="ellipse">
            <a:avLst/>
          </a:prstGeom>
          <a:solidFill>
            <a:srgbClr val="007AFF">
              <a:alpha val="1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8816653" y="8123932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9388153" y="8157270"/>
            <a:ext cx="70886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검증 시작</a:t>
            </a:r>
            <a:endParaRPr lang="en-US" sz="1950" dirty="0"/>
          </a:p>
        </p:txBody>
      </p:sp>
      <p:sp>
        <p:nvSpPr>
          <p:cNvPr id="55" name="Shape 53"/>
          <p:cNvSpPr/>
          <p:nvPr/>
        </p:nvSpPr>
        <p:spPr>
          <a:xfrm>
            <a:off x="15984810" y="8142982"/>
            <a:ext cx="1293540" cy="342900"/>
          </a:xfrm>
          <a:prstGeom prst="roundRect">
            <a:avLst>
              <a:gd name="adj" fmla="val 50000"/>
            </a:avLst>
          </a:prstGeom>
          <a:solidFill>
            <a:srgbClr val="007AFF">
              <a:alpha val="1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6137210" y="8171557"/>
            <a:ext cx="1118094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FW 개발자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62000" y="8904982"/>
            <a:ext cx="5460950" cy="1001018"/>
          </a:xfrm>
          <a:prstGeom prst="roundRect">
            <a:avLst>
              <a:gd name="adj" fmla="val 133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pic>
        <p:nvPicPr>
          <p:cNvPr id="5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1550" y="9114532"/>
            <a:ext cx="285750" cy="285750"/>
          </a:xfrm>
          <a:prstGeom prst="rect">
            <a:avLst/>
          </a:prstGeom>
        </p:spPr>
      </p:pic>
      <p:sp>
        <p:nvSpPr>
          <p:cNvPr id="59" name="Text 56"/>
          <p:cNvSpPr/>
          <p:nvPr/>
        </p:nvSpPr>
        <p:spPr>
          <a:xfrm>
            <a:off x="1409700" y="9076432"/>
            <a:ext cx="468606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 내부 구조 관점의 인터페이스</a:t>
            </a:r>
            <a:endParaRPr lang="en-US" sz="1875" dirty="0"/>
          </a:p>
        </p:txBody>
      </p:sp>
      <p:sp>
        <p:nvSpPr>
          <p:cNvPr id="60" name="Text 57"/>
          <p:cNvSpPr/>
          <p:nvPr/>
        </p:nvSpPr>
        <p:spPr>
          <a:xfrm>
            <a:off x="1409700" y="9414570"/>
            <a:ext cx="468606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 사용성 저하 — 소비자가 아닌 구현자가 설계</a:t>
            </a:r>
            <a:endParaRPr lang="en-US" sz="1800" dirty="0"/>
          </a:p>
        </p:txBody>
      </p:sp>
      <p:sp>
        <p:nvSpPr>
          <p:cNvPr id="61" name="Shape 58"/>
          <p:cNvSpPr/>
          <p:nvPr/>
        </p:nvSpPr>
        <p:spPr>
          <a:xfrm>
            <a:off x="6413450" y="8904982"/>
            <a:ext cx="5461025" cy="1001018"/>
          </a:xfrm>
          <a:prstGeom prst="roundRect">
            <a:avLst>
              <a:gd name="adj" fmla="val 133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pic>
        <p:nvPicPr>
          <p:cNvPr id="6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000" y="9114532"/>
            <a:ext cx="285750" cy="285750"/>
          </a:xfrm>
          <a:prstGeom prst="rect">
            <a:avLst/>
          </a:prstGeom>
        </p:spPr>
      </p:pic>
      <p:sp>
        <p:nvSpPr>
          <p:cNvPr id="63" name="Text 59"/>
          <p:cNvSpPr/>
          <p:nvPr/>
        </p:nvSpPr>
        <p:spPr>
          <a:xfrm>
            <a:off x="7061150" y="9076432"/>
            <a:ext cx="430232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펌웨어 작업이 전부 후행</a:t>
            </a:r>
            <a:endParaRPr lang="en-US" sz="1875" dirty="0"/>
          </a:p>
        </p:txBody>
      </p:sp>
      <p:sp>
        <p:nvSpPr>
          <p:cNvPr id="64" name="Text 60"/>
          <p:cNvSpPr/>
          <p:nvPr/>
        </p:nvSpPr>
        <p:spPr>
          <a:xfrm>
            <a:off x="7061150" y="9414570"/>
            <a:ext cx="430232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완료 후에야 착수 — 병목과 재작업 발생</a:t>
            </a:r>
            <a:endParaRPr lang="en-US" sz="1800" dirty="0"/>
          </a:p>
        </p:txBody>
      </p:sp>
      <p:sp>
        <p:nvSpPr>
          <p:cNvPr id="65" name="Shape 61"/>
          <p:cNvSpPr/>
          <p:nvPr/>
        </p:nvSpPr>
        <p:spPr>
          <a:xfrm>
            <a:off x="12064975" y="8904982"/>
            <a:ext cx="5460950" cy="1001018"/>
          </a:xfrm>
          <a:prstGeom prst="roundRect">
            <a:avLst>
              <a:gd name="adj" fmla="val 133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pic>
        <p:nvPicPr>
          <p:cNvPr id="6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274525" y="9114532"/>
            <a:ext cx="285750" cy="285750"/>
          </a:xfrm>
          <a:prstGeom prst="rect">
            <a:avLst/>
          </a:prstGeom>
        </p:spPr>
      </p:pic>
      <p:sp>
        <p:nvSpPr>
          <p:cNvPr id="67" name="Text 62"/>
          <p:cNvSpPr/>
          <p:nvPr/>
        </p:nvSpPr>
        <p:spPr>
          <a:xfrm>
            <a:off x="12712675" y="9076432"/>
            <a:ext cx="255994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문서와 코드의 이중 관리</a:t>
            </a:r>
            <a:endParaRPr lang="en-US" sz="1875" dirty="0"/>
          </a:p>
        </p:txBody>
      </p:sp>
      <p:sp>
        <p:nvSpPr>
          <p:cNvPr id="68" name="Text 63"/>
          <p:cNvSpPr/>
          <p:nvPr/>
        </p:nvSpPr>
        <p:spPr>
          <a:xfrm>
            <a:off x="12712675" y="9414570"/>
            <a:ext cx="255994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불일치와 수동 동기화 비용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38150"/>
            <a:ext cx="10159410" cy="595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 — 역할과 순서의 역전 (Interface-First Design)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14974565" y="642938"/>
            <a:ext cx="2806578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07 · SoC 검증 FW × AI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62000" y="1185863"/>
            <a:ext cx="9414272" cy="3506688"/>
          </a:xfrm>
          <a:prstGeom prst="roundRect">
            <a:avLst>
              <a:gd name="adj" fmla="val 3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9650" y="1395413"/>
            <a:ext cx="984721" cy="323850"/>
          </a:xfrm>
          <a:prstGeom prst="roundRect">
            <a:avLst>
              <a:gd name="adj" fmla="val 50000"/>
            </a:avLst>
          </a:prstGeom>
          <a:solidFill>
            <a:srgbClr val="787880">
              <a:alpha val="1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62050" y="1423988"/>
            <a:ext cx="77839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C3C43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27721" y="1407319"/>
            <a:ext cx="306131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하드웨어가 인터페이스를 규정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1009650" y="2724894"/>
            <a:ext cx="3806279" cy="904875"/>
          </a:xfrm>
          <a:prstGeom prst="roundRect">
            <a:avLst>
              <a:gd name="adj" fmla="val 10526"/>
            </a:avLst>
          </a:prstGeom>
          <a:solidFill>
            <a:srgbClr val="F2F2F7"/>
          </a:solidFill>
          <a:ln/>
        </p:spPr>
      </p:sp>
      <p:sp>
        <p:nvSpPr>
          <p:cNvPr id="9" name="Text 7"/>
          <p:cNvSpPr/>
          <p:nvPr/>
        </p:nvSpPr>
        <p:spPr>
          <a:xfrm>
            <a:off x="1200150" y="2858244"/>
            <a:ext cx="376780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설계자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0150" y="3182094"/>
            <a:ext cx="376780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SFR 구조 + 설정 시퀀스 정의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4987379" y="2853482"/>
            <a:ext cx="10396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HW → SW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17257" y="3139232"/>
            <a:ext cx="37980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C3C43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⟶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6122268" y="2724894"/>
            <a:ext cx="3806354" cy="904875"/>
          </a:xfrm>
          <a:prstGeom prst="roundRect">
            <a:avLst>
              <a:gd name="adj" fmla="val 10526"/>
            </a:avLst>
          </a:prstGeom>
          <a:solidFill>
            <a:srgbClr val="F2F2F7"/>
          </a:solidFill>
          <a:ln/>
        </p:spPr>
      </p:sp>
      <p:sp>
        <p:nvSpPr>
          <p:cNvPr id="14" name="Text 12"/>
          <p:cNvSpPr/>
          <p:nvPr/>
        </p:nvSpPr>
        <p:spPr>
          <a:xfrm>
            <a:off x="6312768" y="2858244"/>
            <a:ext cx="376788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FW 개발자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12768" y="3182094"/>
            <a:ext cx="376788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주어진 대로 소비만 함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762000" y="4864001"/>
            <a:ext cx="9414272" cy="3544788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 w="19050">
            <a:solidFill>
              <a:srgbClr val="007AF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28700" y="5092601"/>
            <a:ext cx="826591" cy="32385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/>
        </p:spPr>
      </p:sp>
      <p:sp>
        <p:nvSpPr>
          <p:cNvPr id="18" name="Text 16"/>
          <p:cNvSpPr/>
          <p:nvPr/>
        </p:nvSpPr>
        <p:spPr>
          <a:xfrm>
            <a:off x="1181100" y="5121176"/>
            <a:ext cx="60445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988641" y="5104507"/>
            <a:ext cx="435651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소프트웨어가 계약을 정의, 하드웨어가 이행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028700" y="6117282"/>
            <a:ext cx="3787229" cy="1514475"/>
          </a:xfrm>
          <a:prstGeom prst="roundRect">
            <a:avLst>
              <a:gd name="adj" fmla="val 6289"/>
            </a:avLst>
          </a:prstGeom>
          <a:solidFill>
            <a:srgbClr val="007AFF">
              <a:alpha val="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219200" y="6250632"/>
            <a:ext cx="37468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FW 아키텍트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19200" y="6574482"/>
            <a:ext cx="374685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SFR 구조 + 설정 시퀀스 정의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219200" y="6926907"/>
            <a:ext cx="350841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산출물: SystemRDL 파일 + HAL C/C++ 코드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987379" y="6550670"/>
            <a:ext cx="10396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 → HW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17257" y="6836420"/>
            <a:ext cx="37980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⟶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6122268" y="6422082"/>
            <a:ext cx="3787304" cy="904875"/>
          </a:xfrm>
          <a:prstGeom prst="roundRect">
            <a:avLst>
              <a:gd name="adj" fmla="val 10526"/>
            </a:avLst>
          </a:prstGeom>
          <a:solidFill>
            <a:srgbClr val="007AFF">
              <a:alpha val="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312768" y="6555432"/>
            <a:ext cx="37469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설계자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312768" y="6879282"/>
            <a:ext cx="374693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명세를 구현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0423922" y="1185863"/>
            <a:ext cx="7102078" cy="1152525"/>
          </a:xfrm>
          <a:prstGeom prst="roundRect">
            <a:avLst>
              <a:gd name="adj" fmla="val 115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671572" y="1376363"/>
            <a:ext cx="680498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spc="-2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SFR은 소프트웨어가 소비하는 계약이다 — </a:t>
            </a:r>
            <a:pPr algn="l" indent="0" marL="0">
              <a:lnSpc>
                <a:spcPct val="135000"/>
              </a:lnSpc>
              <a:buNone/>
            </a:pPr>
            <a:r>
              <a:rPr lang="en-US" sz="2250" b="1" spc="-22" kern="0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계약은 소비자가 설계한다.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10423922" y="2490788"/>
            <a:ext cx="7102078" cy="5918002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671572" y="3631257"/>
            <a:ext cx="726745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새로운 주장이 아닙니다 — SW 업계에서 검증된 원칙</a:t>
            </a:r>
            <a:endParaRPr lang="en-US" sz="1875" dirty="0"/>
          </a:p>
        </p:txBody>
      </p:sp>
      <p:sp>
        <p:nvSpPr>
          <p:cNvPr id="33" name="Text 31"/>
          <p:cNvSpPr/>
          <p:nvPr/>
        </p:nvSpPr>
        <p:spPr>
          <a:xfrm>
            <a:off x="10671572" y="4064645"/>
            <a:ext cx="1766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886331" y="4045595"/>
            <a:ext cx="658378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API-First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C3C4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OpenAPI 스펙을 먼저 확정한 뒤 서버를 구현하는 방식은 이미 업계 표준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671572" y="4818906"/>
            <a:ext cx="1766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886331" y="4799856"/>
            <a:ext cx="658378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Consumer-Driven Contract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C3C4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소비자가 계약을 정의하고, 공급자는 계약 테스트(Pact 등)로 이행을 보장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671572" y="5573167"/>
            <a:ext cx="1766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886331" y="5554117"/>
            <a:ext cx="6583780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Shift-Left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C3C4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인터페이스 결함은 발견이 늦을수록 수정 비용이 배로 증가. RTL 이후 SFR 수정은 재설계·재검증을 유발, 설계 전 확정이 가장 저렴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671572" y="6647408"/>
            <a:ext cx="1766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0886331" y="6628358"/>
            <a:ext cx="658378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SystemRDL (Accellera 표준)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C3C4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레지스터 명세를 Single Source로 삼는 도구 체계가 이미 존재, 새 인프라 투자가 아님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762000" y="8599289"/>
            <a:ext cx="8286750" cy="1306711"/>
          </a:xfrm>
          <a:prstGeom prst="roundRect">
            <a:avLst>
              <a:gd name="adj" fmla="val 102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90600" y="8751689"/>
            <a:ext cx="86125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구조와 시퀀스를 반드시 함께 정의하는 이유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90600" y="9113639"/>
            <a:ext cx="806443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 시퀀스 = SFR의 실제 use case — 써보며 설계해야 구조의 어색함이 즉시 드러나고, 그 시퀀스가 검증 테스트와 프로그래머스 가이드의 원천으로 재사용됩니다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9239250" y="8599289"/>
            <a:ext cx="8286750" cy="1306711"/>
          </a:xfrm>
          <a:prstGeom prst="roundRect">
            <a:avLst>
              <a:gd name="adj" fmla="val 102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67850" y="8770739"/>
            <a:ext cx="247650" cy="247650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9810750" y="8751689"/>
            <a:ext cx="37503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역할을 뺏는 것이 아니라 분업의 재조정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9467850" y="9113639"/>
            <a:ext cx="806443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 제약(접근 속성, CDC, 리셋값, 타이밍)은 RTL 설계자가 리뷰 게이트에서 검토·승인하는 협업 구조 — 최종 결정권은 여전히 함께 갖습니다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38150"/>
            <a:ext cx="9771742" cy="595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새로운 워크플로 — 요구사항에서 RTL, 즉시 검증까지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14966900" y="642938"/>
            <a:ext cx="2815010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07 · SoC 검증 FW × AI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62000" y="1166813"/>
            <a:ext cx="2060600" cy="1285875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42206" y="1469231"/>
            <a:ext cx="90011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1065684" y="1845469"/>
            <a:ext cx="1453158" cy="304800"/>
          </a:xfrm>
          <a:prstGeom prst="roundRect">
            <a:avLst>
              <a:gd name="adj" fmla="val 50000"/>
            </a:avLst>
          </a:prstGeom>
          <a:solidFill>
            <a:srgbClr val="007AFF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26376" y="1854994"/>
            <a:ext cx="133177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FW 아키텍트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917850" y="1166813"/>
            <a:ext cx="321469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3C3C43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258369" y="1166813"/>
            <a:ext cx="2243733" cy="1285875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44272" y="1469231"/>
            <a:ext cx="147192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항목 도출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3653656" y="1845469"/>
            <a:ext cx="1453158" cy="304800"/>
          </a:xfrm>
          <a:prstGeom prst="roundRect">
            <a:avLst>
              <a:gd name="adj" fmla="val 50000"/>
            </a:avLst>
          </a:prstGeom>
          <a:solidFill>
            <a:srgbClr val="007AFF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714348" y="1854994"/>
            <a:ext cx="133177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FW 아키텍트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97351" y="1166813"/>
            <a:ext cx="321469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3C3C43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937870" y="1166813"/>
            <a:ext cx="2426940" cy="1285875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28369" y="1469231"/>
            <a:ext cx="224586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 prototype 설계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6424761" y="1845469"/>
            <a:ext cx="1453158" cy="304800"/>
          </a:xfrm>
          <a:prstGeom prst="roundRect">
            <a:avLst>
              <a:gd name="adj" fmla="val 50000"/>
            </a:avLst>
          </a:prstGeom>
          <a:solidFill>
            <a:srgbClr val="007AFF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85453" y="1854994"/>
            <a:ext cx="133177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FW 아키텍트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60060" y="1166813"/>
            <a:ext cx="321469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3C3C43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8800579" y="1166813"/>
            <a:ext cx="2831455" cy="1285875"/>
          </a:xfrm>
          <a:prstGeom prst="roundRect">
            <a:avLst>
              <a:gd name="adj" fmla="val 8889"/>
            </a:avLst>
          </a:prstGeom>
          <a:solidFill>
            <a:srgbClr val="007AFF">
              <a:alpha val="8000"/>
            </a:srgbClr>
          </a:solidFill>
          <a:ln w="19050">
            <a:solidFill>
              <a:srgbClr val="007A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95458" y="1319213"/>
            <a:ext cx="264169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SFR 구조 + 설정 시퀀스 정의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9259267" y="1995487"/>
            <a:ext cx="1914079" cy="30480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/>
        </p:spPr>
      </p:sp>
      <p:sp>
        <p:nvSpPr>
          <p:cNvPr id="22" name="Text 20"/>
          <p:cNvSpPr/>
          <p:nvPr/>
        </p:nvSpPr>
        <p:spPr>
          <a:xfrm>
            <a:off x="9296913" y="2005012"/>
            <a:ext cx="183878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FW 아키텍트 + AI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727284" y="1359694"/>
            <a:ext cx="1039639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RDL+HAL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086332" y="1645444"/>
            <a:ext cx="32146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1873582" y="1978819"/>
            <a:ext cx="746968" cy="3190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명세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785973" y="1166813"/>
            <a:ext cx="2060525" cy="1285875"/>
          </a:xfrm>
          <a:prstGeom prst="roundRect">
            <a:avLst>
              <a:gd name="adj" fmla="val 8889"/>
            </a:avLst>
          </a:prstGeom>
          <a:solidFill>
            <a:srgbClr val="E5E5EA"/>
          </a:solidFill>
          <a:ln/>
        </p:spPr>
      </p:sp>
      <p:sp>
        <p:nvSpPr>
          <p:cNvPr id="27" name="Text 25"/>
          <p:cNvSpPr/>
          <p:nvPr/>
        </p:nvSpPr>
        <p:spPr>
          <a:xfrm>
            <a:off x="13332693" y="1469231"/>
            <a:ext cx="96708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설계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13161913" y="1845469"/>
            <a:ext cx="1308571" cy="304800"/>
          </a:xfrm>
          <a:prstGeom prst="roundRect">
            <a:avLst>
              <a:gd name="adj" fmla="val 50000"/>
            </a:avLst>
          </a:prstGeom>
          <a:solidFill>
            <a:srgbClr val="787880">
              <a:alpha val="16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3229834" y="1854994"/>
            <a:ext cx="117272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C3C43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설계자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941748" y="1166813"/>
            <a:ext cx="321469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3C3C43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15282267" y="1166813"/>
            <a:ext cx="2243733" cy="1285875"/>
          </a:xfrm>
          <a:prstGeom prst="roundRect">
            <a:avLst>
              <a:gd name="adj" fmla="val 8889"/>
            </a:avLst>
          </a:prstGeom>
          <a:solidFill>
            <a:srgbClr val="FF9500">
              <a:alpha val="1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5668171" y="1469231"/>
            <a:ext cx="147192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C93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기능 검증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15743709" y="1845469"/>
            <a:ext cx="1320850" cy="304800"/>
          </a:xfrm>
          <a:prstGeom prst="roundRect">
            <a:avLst>
              <a:gd name="adj" fmla="val 50000"/>
            </a:avLst>
          </a:prstGeom>
          <a:solidFill>
            <a:srgbClr val="FF9500">
              <a:alpha val="16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5811016" y="1854994"/>
            <a:ext cx="118623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3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+ AI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62000" y="2757488"/>
            <a:ext cx="5147742" cy="1905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6" name="Text 34"/>
          <p:cNvSpPr/>
          <p:nvPr/>
        </p:nvSpPr>
        <p:spPr>
          <a:xfrm>
            <a:off x="6043092" y="2624138"/>
            <a:ext cx="5160742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RTL 설계 전에 SFR 구조와 HAL 구현이 이미 완성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0868025" y="2757488"/>
            <a:ext cx="228600" cy="1905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8" name="Shape 36"/>
          <p:cNvSpPr/>
          <p:nvPr/>
        </p:nvSpPr>
        <p:spPr>
          <a:xfrm>
            <a:off x="762000" y="3081338"/>
            <a:ext cx="9545538" cy="1310580"/>
          </a:xfrm>
          <a:prstGeom prst="roundRect">
            <a:avLst>
              <a:gd name="adj" fmla="val 10175"/>
            </a:avLst>
          </a:prstGeom>
          <a:solidFill>
            <a:srgbClr val="FF9500">
              <a:alpha val="1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971550" y="3233738"/>
            <a:ext cx="1003908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3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지원 ① — SFR 구조·시퀀스 초안 생성 · 아키텍트가 판단·확정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71550" y="3576638"/>
            <a:ext cx="9400231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C3C4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SFR 변경 최소화 · 설계 철학 유지 · 코드 효율 최적화 · HW 제약(접근 속성/리셋값/클럭 도메인) 가드레일 · 에러/타임아웃 경로 포함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0498038" y="3081338"/>
            <a:ext cx="7027962" cy="1310580"/>
          </a:xfrm>
          <a:prstGeom prst="roundRect">
            <a:avLst>
              <a:gd name="adj" fmla="val 10175"/>
            </a:avLst>
          </a:prstGeom>
          <a:solidFill>
            <a:srgbClr val="FF9500">
              <a:alpha val="1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0707588" y="3233738"/>
            <a:ext cx="72697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3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지원 ② — 산출물 자동 생성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0707588" y="3576638"/>
            <a:ext cx="6807128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3C3C4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SystemRDL + HAL 코드에서 SFR 문서 · 프로그래머스 가이드 · 헤더 · 검증 시퀀스 자동 생성 — 코드가 Single Source of Truth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62000" y="4563368"/>
            <a:ext cx="91154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 PROTOTYPE — RTL 설계 전에 확정되는 계약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762000" y="4925318"/>
            <a:ext cx="8286750" cy="2142530"/>
          </a:xfrm>
          <a:prstGeom prst="roundRect">
            <a:avLst>
              <a:gd name="adj" fmla="val 53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71550" y="5077718"/>
            <a:ext cx="8116252" cy="18758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RTL 설계 전에 확정되는 HW/SW 계약 */ </a:t>
            </a:r>
            <a:pPr algn="l" indent="0" marL="0">
              <a:lnSpc>
                <a:spcPct val="134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hal_status_t hal_dma_start(dma_ch_t ch,</a:t>
            </a:r>
            <a:endParaRPr lang="en-US" sz="1800" dirty="0"/>
          </a:p>
          <a:p>
            <a:pPr algn="l" indent="0" marL="0">
              <a:lnSpc>
                <a:spcPct val="134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const dma_desc_t *desc);</a:t>
            </a:r>
            <a:endParaRPr lang="en-US" sz="1800" dirty="0"/>
          </a:p>
          <a:p>
            <a:pPr algn="l" indent="0" marL="0">
              <a:lnSpc>
                <a:spcPct val="134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hal_status_t hal_dma_wait_done(dma_ch_t ch,</a:t>
            </a:r>
            <a:endParaRPr lang="en-US" sz="1800" dirty="0"/>
          </a:p>
          <a:p>
            <a:pPr algn="l" indent="0" marL="0">
              <a:lnSpc>
                <a:spcPct val="134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uint32_t timeout_us);</a:t>
            </a:r>
            <a:endParaRPr lang="en-US" sz="1800" dirty="0"/>
          </a:p>
          <a:p>
            <a:pPr algn="l" indent="0" marL="0">
              <a:lnSpc>
                <a:spcPct val="134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hal_status_t hal_dma_abort(dma_ch_t ch);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239250" y="4563368"/>
            <a:ext cx="91154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SYSTEMRDL — 레지스터 수준 계약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9239250" y="4925318"/>
            <a:ext cx="8286750" cy="2142530"/>
          </a:xfrm>
          <a:prstGeom prst="roundRect">
            <a:avLst>
              <a:gd name="adj" fmla="val 53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9448800" y="5077718"/>
            <a:ext cx="8116252" cy="187583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8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 dma_ch_ctrl {</a:t>
            </a:r>
            <a:endParaRPr lang="en-US" sz="1800" dirty="0"/>
          </a:p>
          <a:p>
            <a:pPr algn="l" indent="0" marL="0">
              <a:lnSpc>
                <a:spcPct val="134000"/>
              </a:lnSpc>
              <a:buNone/>
            </a:pPr>
            <a:r>
              <a:rPr lang="en-US" sz="18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field { sw = rw; hw = r;  } START  [0:0];</a:t>
            </a:r>
            <a:endParaRPr lang="en-US" sz="1800" dirty="0"/>
          </a:p>
          <a:p>
            <a:pPr algn="l" indent="0" marL="0">
              <a:lnSpc>
                <a:spcPct val="134000"/>
              </a:lnSpc>
              <a:buNone/>
            </a:pPr>
            <a:r>
              <a:rPr lang="en-US" sz="18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field { sw = r;  hw = w;  } BUSY   [1:1];</a:t>
            </a:r>
            <a:endParaRPr lang="en-US" sz="1800" dirty="0"/>
          </a:p>
          <a:p>
            <a:pPr algn="l" indent="0" marL="0">
              <a:lnSpc>
                <a:spcPct val="134000"/>
              </a:lnSpc>
              <a:buNone/>
            </a:pPr>
            <a:r>
              <a:rPr lang="en-US" sz="18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field { sw = rw; onwrite = woclr; } DONE [2:2];</a:t>
            </a:r>
            <a:endParaRPr lang="en-US" sz="1800" dirty="0"/>
          </a:p>
          <a:p>
            <a:pPr algn="l" indent="0" marL="0">
              <a:lnSpc>
                <a:spcPct val="134000"/>
              </a:lnSpc>
              <a:buNone/>
            </a:pPr>
            <a:r>
              <a:rPr lang="en-US" sz="18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field { sw = rw; hw = r;  } ABORT  [3:3];</a:t>
            </a:r>
            <a:endParaRPr lang="en-US" sz="1800" dirty="0"/>
          </a:p>
          <a:p>
            <a:pPr algn="l" indent="0" marL="0">
              <a:lnSpc>
                <a:spcPct val="134000"/>
              </a:lnSpc>
              <a:buNone/>
            </a:pPr>
            <a:r>
              <a:rPr lang="en-US" sz="18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762000" y="7239298"/>
            <a:ext cx="16764000" cy="2180927"/>
          </a:xfrm>
          <a:prstGeom prst="roundRect">
            <a:avLst>
              <a:gd name="adj" fmla="val 61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990600" y="7634436"/>
            <a:ext cx="17937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착수 리드타임 — RTL 완료 이후 타임라인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990600" y="8110686"/>
            <a:ext cx="9334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C3C43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981200" y="8034486"/>
            <a:ext cx="1619250" cy="438150"/>
          </a:xfrm>
          <a:prstGeom prst="roundRect">
            <a:avLst>
              <a:gd name="adj" fmla="val 17391"/>
            </a:avLst>
          </a:prstGeom>
          <a:solidFill>
            <a:srgbClr val="E5E5EA"/>
          </a:solidFill>
          <a:ln/>
        </p:spPr>
      </p:sp>
      <p:sp>
        <p:nvSpPr>
          <p:cNvPr id="54" name="Text 52"/>
          <p:cNvSpPr/>
          <p:nvPr/>
        </p:nvSpPr>
        <p:spPr>
          <a:xfrm>
            <a:off x="1943100" y="8110686"/>
            <a:ext cx="16954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완료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3733800" y="8034486"/>
            <a:ext cx="2925217" cy="438150"/>
          </a:xfrm>
          <a:prstGeom prst="roundRect">
            <a:avLst>
              <a:gd name="adj" fmla="val 17391"/>
            </a:avLst>
          </a:prstGeom>
          <a:solidFill>
            <a:srgbClr val="787880">
              <a:alpha val="16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3689922" y="8110686"/>
            <a:ext cx="301297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C3C43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SFR 문서 확인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6792367" y="8034486"/>
            <a:ext cx="2925291" cy="438150"/>
          </a:xfrm>
          <a:prstGeom prst="roundRect">
            <a:avLst>
              <a:gd name="adj" fmla="val 17391"/>
            </a:avLst>
          </a:prstGeom>
          <a:solidFill>
            <a:srgbClr val="787880">
              <a:alpha val="16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6748487" y="8110686"/>
            <a:ext cx="30130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C3C43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헤더 생성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9851008" y="8034486"/>
            <a:ext cx="4387825" cy="438150"/>
          </a:xfrm>
          <a:prstGeom prst="roundRect">
            <a:avLst>
              <a:gd name="adj" fmla="val 17391"/>
            </a:avLst>
          </a:prstGeom>
          <a:solidFill>
            <a:srgbClr val="787880">
              <a:alpha val="16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9785191" y="8110686"/>
            <a:ext cx="45194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C3C43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 구현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4372183" y="8034486"/>
            <a:ext cx="2925217" cy="438150"/>
          </a:xfrm>
          <a:prstGeom prst="roundRect">
            <a:avLst>
              <a:gd name="adj" fmla="val 17391"/>
            </a:avLst>
          </a:prstGeom>
          <a:solidFill>
            <a:srgbClr val="787880">
              <a:alpha val="16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4328305" y="8110686"/>
            <a:ext cx="301297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C3C43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착수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990600" y="8663136"/>
            <a:ext cx="9334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흐름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981200" y="8586936"/>
            <a:ext cx="1619250" cy="438150"/>
          </a:xfrm>
          <a:prstGeom prst="roundRect">
            <a:avLst>
              <a:gd name="adj" fmla="val 17391"/>
            </a:avLst>
          </a:prstGeom>
          <a:solidFill>
            <a:srgbClr val="E5E5EA"/>
          </a:solidFill>
          <a:ln/>
        </p:spPr>
      </p:sp>
      <p:sp>
        <p:nvSpPr>
          <p:cNvPr id="65" name="Text 63"/>
          <p:cNvSpPr/>
          <p:nvPr/>
        </p:nvSpPr>
        <p:spPr>
          <a:xfrm>
            <a:off x="1943100" y="8663136"/>
            <a:ext cx="16954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완료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3733800" y="8586936"/>
            <a:ext cx="2976042" cy="438150"/>
          </a:xfrm>
          <a:prstGeom prst="roundRect">
            <a:avLst>
              <a:gd name="adj" fmla="val 17391"/>
            </a:avLst>
          </a:prstGeom>
          <a:solidFill>
            <a:srgbClr val="007AFF"/>
          </a:solidFill>
          <a:ln/>
        </p:spPr>
      </p:sp>
      <p:sp>
        <p:nvSpPr>
          <p:cNvPr id="67" name="Text 65"/>
          <p:cNvSpPr/>
          <p:nvPr/>
        </p:nvSpPr>
        <p:spPr>
          <a:xfrm>
            <a:off x="3689159" y="8663136"/>
            <a:ext cx="306532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자동 검증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6843192" y="8586936"/>
            <a:ext cx="10454208" cy="438150"/>
          </a:xfrm>
          <a:prstGeom prst="roundRect">
            <a:avLst>
              <a:gd name="adj" fmla="val 17391"/>
            </a:avLst>
          </a:prstGeom>
          <a:ln w="19050">
            <a:solidFill>
              <a:srgbClr val="007AFF">
                <a:alpha val="40000"/>
              </a:srgbClr>
            </a:solidFill>
            <a:prstDash val="dash"/>
          </a:ln>
        </p:spPr>
      </p:sp>
      <p:sp>
        <p:nvSpPr>
          <p:cNvPr id="69" name="Text 67"/>
          <p:cNvSpPr/>
          <p:nvPr/>
        </p:nvSpPr>
        <p:spPr>
          <a:xfrm>
            <a:off x="6705428" y="8663136"/>
            <a:ext cx="1072973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HAL·검증 시퀀스가 이미 완성 — 이 기간이 통째로 절감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762000" y="9596438"/>
            <a:ext cx="47625" cy="30480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/>
        </p:spPr>
      </p:sp>
      <p:sp>
        <p:nvSpPr>
          <p:cNvPr id="71" name="Text 69"/>
          <p:cNvSpPr/>
          <p:nvPr/>
        </p:nvSpPr>
        <p:spPr>
          <a:xfrm>
            <a:off x="942975" y="9591675"/>
            <a:ext cx="973122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완료 즉시, 이미 작성된 HAL 기반으로 기능 검증이 자동 실행 — 검증 착수 리드타임 제로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42900"/>
            <a:ext cx="10638428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예제 ① — NFC에 E/P Suspend-Resume 추가: SFR 설계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4963775" y="528638"/>
            <a:ext cx="2818448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07 · SoC 검증 FW × AI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62000" y="985838"/>
            <a:ext cx="16764000" cy="453330"/>
          </a:xfrm>
          <a:prstGeom prst="roundRect">
            <a:avLst>
              <a:gd name="adj" fmla="val 252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71550" y="1052513"/>
            <a:ext cx="1684782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C93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C3C4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신규 요구사항: Program/Erase 진행 중 Suspend하여 Read를 수행하고 Resume한다. FW 아키텍트가 AI와 함께 SFR 변경안을 RTL 설계 전에 확정.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1553468"/>
            <a:ext cx="81902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— 기존 NFC SFR 맵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1953518"/>
            <a:ext cx="7445648" cy="4110038"/>
          </a:xfrm>
          <a:prstGeom prst="roundRect">
            <a:avLst>
              <a:gd name="adj" fmla="val 27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2000" y="1953518"/>
            <a:ext cx="7445648" cy="400050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2344043"/>
            <a:ext cx="1880146" cy="9525"/>
          </a:xfrm>
          <a:prstGeom prst="rect">
            <a:avLst/>
          </a:prstGeom>
          <a:solidFill>
            <a:srgbClr val="3C3C43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76300" y="2010668"/>
            <a:ext cx="172774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642146" y="2344043"/>
            <a:ext cx="1016273" cy="9525"/>
          </a:xfrm>
          <a:prstGeom prst="rect">
            <a:avLst/>
          </a:prstGeom>
          <a:solidFill>
            <a:srgbClr val="3C3C43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737396" y="2010668"/>
            <a:ext cx="9019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8419" y="2344043"/>
            <a:ext cx="2306687" cy="9525"/>
          </a:xfrm>
          <a:prstGeom prst="rect">
            <a:avLst/>
          </a:prstGeom>
          <a:solidFill>
            <a:srgbClr val="3C3C43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753669" y="2010668"/>
            <a:ext cx="219238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주요 필드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965106" y="2344043"/>
            <a:ext cx="1016273" cy="9525"/>
          </a:xfrm>
          <a:prstGeom prst="rect">
            <a:avLst/>
          </a:prstGeom>
          <a:solidFill>
            <a:srgbClr val="3C3C43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060356" y="2010668"/>
            <a:ext cx="9019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981379" y="2344043"/>
            <a:ext cx="1226269" cy="9525"/>
          </a:xfrm>
          <a:prstGeom prst="rect">
            <a:avLst/>
          </a:prstGeom>
          <a:solidFill>
            <a:srgbClr val="3C3C43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095679" y="2010668"/>
            <a:ext cx="10738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설명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2000" y="3020318"/>
            <a:ext cx="1880146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76300" y="2401193"/>
            <a:ext cx="172774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NFC_CMD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642146" y="3020318"/>
            <a:ext cx="1016273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737396" y="2401193"/>
            <a:ext cx="90197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658419" y="3020318"/>
            <a:ext cx="2306687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753669" y="2401193"/>
            <a:ext cx="219238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OPCODE[3:0], START[8]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965106" y="3020318"/>
            <a:ext cx="1016273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060356" y="2401193"/>
            <a:ext cx="90197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RW/W1P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981379" y="3020318"/>
            <a:ext cx="1226269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095679" y="2401193"/>
            <a:ext cx="107386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커맨드 발행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62000" y="3410843"/>
            <a:ext cx="1880146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76300" y="3077468"/>
            <a:ext cx="17277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NFC_ADDR_ROW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2642146" y="3410843"/>
            <a:ext cx="1016273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2737396" y="3077468"/>
            <a:ext cx="90197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0x04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3658419" y="3410843"/>
            <a:ext cx="2306687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753669" y="3077468"/>
            <a:ext cx="219238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ROW[23:0]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965106" y="3410843"/>
            <a:ext cx="1016273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060356" y="3077468"/>
            <a:ext cx="90197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981379" y="3410843"/>
            <a:ext cx="1226269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095679" y="3077468"/>
            <a:ext cx="107386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주소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762000" y="4068068"/>
            <a:ext cx="1880146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76300" y="3467993"/>
            <a:ext cx="1727746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NFC_ADDR_COL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2642146" y="4068068"/>
            <a:ext cx="1016273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2737396" y="3467993"/>
            <a:ext cx="901973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0x08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3658419" y="4068068"/>
            <a:ext cx="2306687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3753669" y="3467993"/>
            <a:ext cx="219238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COL[15:0]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965106" y="4068068"/>
            <a:ext cx="1016273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060356" y="3467993"/>
            <a:ext cx="901973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6981379" y="4068068"/>
            <a:ext cx="1226269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095679" y="3467993"/>
            <a:ext cx="1073869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주소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762000" y="4706243"/>
            <a:ext cx="1880146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876300" y="4125218"/>
            <a:ext cx="172774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NFC_STATUS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2642146" y="4706243"/>
            <a:ext cx="1016273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2737396" y="4125218"/>
            <a:ext cx="90197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0x0C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3658419" y="4706243"/>
            <a:ext cx="2306687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3753669" y="4125218"/>
            <a:ext cx="219238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BUSY[0], DONE[1], ERR[2]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5965106" y="4706243"/>
            <a:ext cx="1016273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060356" y="4125218"/>
            <a:ext cx="90197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RO/W1C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6981379" y="4706243"/>
            <a:ext cx="1226269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7095679" y="4125218"/>
            <a:ext cx="107386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동작 상태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762000" y="5382518"/>
            <a:ext cx="1880146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876300" y="4763393"/>
            <a:ext cx="172774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NFC_INT_EN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2642146" y="5382518"/>
            <a:ext cx="1016273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2737396" y="4763393"/>
            <a:ext cx="90197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0x10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3658419" y="5382518"/>
            <a:ext cx="2306687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3753669" y="4763393"/>
            <a:ext cx="219238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DONE_EN[0], ERR_EN[1]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5965106" y="5382518"/>
            <a:ext cx="1016273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6060356" y="4763393"/>
            <a:ext cx="90197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6981379" y="5382518"/>
            <a:ext cx="1226269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7095679" y="4763393"/>
            <a:ext cx="107386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인터럽트 마스크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876300" y="5439668"/>
            <a:ext cx="1727746" cy="614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NFC_DMA_ADDR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2737396" y="5439668"/>
            <a:ext cx="901973" cy="614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0x14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3753669" y="5439668"/>
            <a:ext cx="2192387" cy="614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ADDR[31:0]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6060356" y="5439668"/>
            <a:ext cx="901973" cy="614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7095679" y="5439668"/>
            <a:ext cx="1073869" cy="614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DMA 주소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762000" y="6196905"/>
            <a:ext cx="81902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C93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설계 근거 — 가드레일이 작동한 지점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762000" y="6596955"/>
            <a:ext cx="3675162" cy="1673572"/>
          </a:xfrm>
          <a:prstGeom prst="roundRect">
            <a:avLst>
              <a:gd name="adj" fmla="val 6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895350" y="6692205"/>
            <a:ext cx="374930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3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 최소화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895350" y="6997005"/>
            <a:ext cx="351071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예약 비트만 사용 + 신규 레지스터 1개 — 기존 검증 FW는 수정 없이 동작</a:t>
            </a:r>
            <a:endParaRPr lang="en-US" sz="1800" dirty="0"/>
          </a:p>
        </p:txBody>
      </p:sp>
      <p:sp>
        <p:nvSpPr>
          <p:cNvPr id="78" name="Shape 76"/>
          <p:cNvSpPr/>
          <p:nvPr/>
        </p:nvSpPr>
        <p:spPr>
          <a:xfrm>
            <a:off x="4532412" y="6596955"/>
            <a:ext cx="3675236" cy="1673572"/>
          </a:xfrm>
          <a:prstGeom prst="roundRect">
            <a:avLst>
              <a:gd name="adj" fmla="val 6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4665762" y="6692205"/>
            <a:ext cx="37493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3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 판단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4665762" y="6997005"/>
            <a:ext cx="3510792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NFC_CMD에 opcode 추가안 기각 — BUSY 중 RMW 해저드. 별도 W1P 레지스터로 분리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762000" y="8365778"/>
            <a:ext cx="3675162" cy="1673572"/>
          </a:xfrm>
          <a:prstGeom prst="roundRect">
            <a:avLst>
              <a:gd name="adj" fmla="val 6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895350" y="8461028"/>
            <a:ext cx="374930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3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컨벤션 유지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895350" y="8765828"/>
            <a:ext cx="3510716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플래그는 W1C, 요청 트리거는 W1P(singlepulse) — 기존 설계 철학 그대로</a:t>
            </a:r>
            <a:endParaRPr lang="en-US" sz="1800" dirty="0"/>
          </a:p>
        </p:txBody>
      </p:sp>
      <p:sp>
        <p:nvSpPr>
          <p:cNvPr id="84" name="Shape 82"/>
          <p:cNvSpPr/>
          <p:nvPr/>
        </p:nvSpPr>
        <p:spPr>
          <a:xfrm>
            <a:off x="4532412" y="8365778"/>
            <a:ext cx="3675236" cy="1673572"/>
          </a:xfrm>
          <a:prstGeom prst="roundRect">
            <a:avLst>
              <a:gd name="adj" fmla="val 6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4665762" y="8461028"/>
            <a:ext cx="37493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3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에러 경로 포함</a:t>
            </a:r>
            <a:endParaRPr lang="en-US" sz="1800" dirty="0"/>
          </a:p>
        </p:txBody>
      </p:sp>
      <p:sp>
        <p:nvSpPr>
          <p:cNvPr id="86" name="Text 84"/>
          <p:cNvSpPr/>
          <p:nvPr/>
        </p:nvSpPr>
        <p:spPr>
          <a:xfrm>
            <a:off x="4665762" y="8765828"/>
            <a:ext cx="3510792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tSUSP 초과 시 ERR 셋 + 원인 코드 정의 — happy path만 설계하지 않음</a:t>
            </a:r>
            <a:endParaRPr lang="en-US" sz="1800" dirty="0"/>
          </a:p>
        </p:txBody>
      </p:sp>
      <p:sp>
        <p:nvSpPr>
          <p:cNvPr id="87" name="Text 85"/>
          <p:cNvSpPr/>
          <p:nvPr/>
        </p:nvSpPr>
        <p:spPr>
          <a:xfrm>
            <a:off x="8436248" y="1553468"/>
            <a:ext cx="99987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— 변경 제안 (신규/변경 강조)</a:t>
            </a:r>
            <a:endParaRPr lang="en-US" sz="1800" dirty="0"/>
          </a:p>
        </p:txBody>
      </p:sp>
      <p:sp>
        <p:nvSpPr>
          <p:cNvPr id="88" name="Shape 86"/>
          <p:cNvSpPr/>
          <p:nvPr/>
        </p:nvSpPr>
        <p:spPr>
          <a:xfrm>
            <a:off x="8436248" y="1953518"/>
            <a:ext cx="9089752" cy="3062288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9525">
            <a:solidFill>
              <a:srgbClr val="007AFF">
                <a:alpha val="35000"/>
              </a:srgbClr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8441010" y="1958280"/>
            <a:ext cx="9080227" cy="404813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90" name="Shape 88"/>
          <p:cNvSpPr/>
          <p:nvPr/>
        </p:nvSpPr>
        <p:spPr>
          <a:xfrm>
            <a:off x="8441010" y="2353568"/>
            <a:ext cx="2081287" cy="9525"/>
          </a:xfrm>
          <a:prstGeom prst="rect">
            <a:avLst/>
          </a:prstGeom>
          <a:solidFill>
            <a:srgbClr val="3C3C43">
              <a:alpha val="15000"/>
            </a:srgbClr>
          </a:solidFill>
          <a:ln/>
        </p:spPr>
      </p:sp>
      <p:sp>
        <p:nvSpPr>
          <p:cNvPr id="91" name="Text 89"/>
          <p:cNvSpPr/>
          <p:nvPr/>
        </p:nvSpPr>
        <p:spPr>
          <a:xfrm>
            <a:off x="8555310" y="2015430"/>
            <a:ext cx="192888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</a:t>
            </a:r>
            <a:endParaRPr lang="en-US" sz="1800" dirty="0"/>
          </a:p>
        </p:txBody>
      </p:sp>
      <p:sp>
        <p:nvSpPr>
          <p:cNvPr id="92" name="Shape 90"/>
          <p:cNvSpPr/>
          <p:nvPr/>
        </p:nvSpPr>
        <p:spPr>
          <a:xfrm>
            <a:off x="10522297" y="2353568"/>
            <a:ext cx="2672804" cy="9525"/>
          </a:xfrm>
          <a:prstGeom prst="rect">
            <a:avLst/>
          </a:prstGeom>
          <a:solidFill>
            <a:srgbClr val="3C3C43">
              <a:alpha val="15000"/>
            </a:srgbClr>
          </a:solidFill>
          <a:ln/>
        </p:spPr>
      </p:sp>
      <p:sp>
        <p:nvSpPr>
          <p:cNvPr id="93" name="Text 91"/>
          <p:cNvSpPr/>
          <p:nvPr/>
        </p:nvSpPr>
        <p:spPr>
          <a:xfrm>
            <a:off x="10617547" y="2015430"/>
            <a:ext cx="256248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필드</a:t>
            </a:r>
            <a:endParaRPr lang="en-US" sz="1800" dirty="0"/>
          </a:p>
        </p:txBody>
      </p:sp>
      <p:sp>
        <p:nvSpPr>
          <p:cNvPr id="94" name="Shape 92"/>
          <p:cNvSpPr/>
          <p:nvPr/>
        </p:nvSpPr>
        <p:spPr>
          <a:xfrm>
            <a:off x="13195102" y="2353568"/>
            <a:ext cx="1016273" cy="9525"/>
          </a:xfrm>
          <a:prstGeom prst="rect">
            <a:avLst/>
          </a:prstGeom>
          <a:solidFill>
            <a:srgbClr val="3C3C43">
              <a:alpha val="15000"/>
            </a:srgbClr>
          </a:solidFill>
          <a:ln/>
        </p:spPr>
      </p:sp>
      <p:sp>
        <p:nvSpPr>
          <p:cNvPr id="95" name="Text 93"/>
          <p:cNvSpPr/>
          <p:nvPr/>
        </p:nvSpPr>
        <p:spPr>
          <a:xfrm>
            <a:off x="13290352" y="2015430"/>
            <a:ext cx="90197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</a:t>
            </a:r>
            <a:endParaRPr lang="en-US" sz="1800" dirty="0"/>
          </a:p>
        </p:txBody>
      </p:sp>
      <p:sp>
        <p:nvSpPr>
          <p:cNvPr id="96" name="Shape 94"/>
          <p:cNvSpPr/>
          <p:nvPr/>
        </p:nvSpPr>
        <p:spPr>
          <a:xfrm>
            <a:off x="14211374" y="2353568"/>
            <a:ext cx="1259235" cy="9525"/>
          </a:xfrm>
          <a:prstGeom prst="rect">
            <a:avLst/>
          </a:prstGeom>
          <a:solidFill>
            <a:srgbClr val="3C3C43">
              <a:alpha val="15000"/>
            </a:srgbClr>
          </a:solidFill>
          <a:ln/>
        </p:spPr>
      </p:sp>
      <p:sp>
        <p:nvSpPr>
          <p:cNvPr id="97" name="Text 95"/>
          <p:cNvSpPr/>
          <p:nvPr/>
        </p:nvSpPr>
        <p:spPr>
          <a:xfrm>
            <a:off x="14306624" y="2015430"/>
            <a:ext cx="114493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변경</a:t>
            </a:r>
            <a:endParaRPr lang="en-US" sz="1800" dirty="0"/>
          </a:p>
        </p:txBody>
      </p:sp>
      <p:sp>
        <p:nvSpPr>
          <p:cNvPr id="98" name="Shape 96"/>
          <p:cNvSpPr/>
          <p:nvPr/>
        </p:nvSpPr>
        <p:spPr>
          <a:xfrm>
            <a:off x="15470609" y="2353568"/>
            <a:ext cx="2050628" cy="9525"/>
          </a:xfrm>
          <a:prstGeom prst="rect">
            <a:avLst/>
          </a:prstGeom>
          <a:solidFill>
            <a:srgbClr val="3C3C43">
              <a:alpha val="15000"/>
            </a:srgbClr>
          </a:solidFill>
          <a:ln/>
        </p:spPr>
      </p:sp>
      <p:sp>
        <p:nvSpPr>
          <p:cNvPr id="99" name="Text 97"/>
          <p:cNvSpPr/>
          <p:nvPr/>
        </p:nvSpPr>
        <p:spPr>
          <a:xfrm>
            <a:off x="15584909" y="2015430"/>
            <a:ext cx="189822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설명</a:t>
            </a:r>
            <a:endParaRPr lang="en-US" sz="1800" dirty="0"/>
          </a:p>
        </p:txBody>
      </p:sp>
      <p:sp>
        <p:nvSpPr>
          <p:cNvPr id="100" name="Shape 98"/>
          <p:cNvSpPr/>
          <p:nvPr/>
        </p:nvSpPr>
        <p:spPr>
          <a:xfrm>
            <a:off x="8441010" y="2363093"/>
            <a:ext cx="9080227" cy="676275"/>
          </a:xfrm>
          <a:prstGeom prst="rect">
            <a:avLst/>
          </a:prstGeom>
          <a:solidFill>
            <a:srgbClr val="007AFF">
              <a:alpha val="6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8441010" y="3029843"/>
            <a:ext cx="2081287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102" name="Text 100"/>
          <p:cNvSpPr/>
          <p:nvPr/>
        </p:nvSpPr>
        <p:spPr>
          <a:xfrm>
            <a:off x="8555310" y="2410718"/>
            <a:ext cx="192888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NFC_SUSP_CTRL (0x18)</a:t>
            </a:r>
            <a:endParaRPr lang="en-US" sz="1800" dirty="0"/>
          </a:p>
        </p:txBody>
      </p:sp>
      <p:sp>
        <p:nvSpPr>
          <p:cNvPr id="103" name="Shape 101"/>
          <p:cNvSpPr/>
          <p:nvPr/>
        </p:nvSpPr>
        <p:spPr>
          <a:xfrm>
            <a:off x="10522297" y="3029843"/>
            <a:ext cx="2672804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104" name="Text 102"/>
          <p:cNvSpPr/>
          <p:nvPr/>
        </p:nvSpPr>
        <p:spPr>
          <a:xfrm>
            <a:off x="10617547" y="2410718"/>
            <a:ext cx="256248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SUSPEND_REQ[0], RESUME_REQ[1]</a:t>
            </a:r>
            <a:endParaRPr lang="en-US" sz="1800" dirty="0"/>
          </a:p>
        </p:txBody>
      </p:sp>
      <p:sp>
        <p:nvSpPr>
          <p:cNvPr id="105" name="Shape 103"/>
          <p:cNvSpPr/>
          <p:nvPr/>
        </p:nvSpPr>
        <p:spPr>
          <a:xfrm>
            <a:off x="13195102" y="3029843"/>
            <a:ext cx="1016273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106" name="Text 104"/>
          <p:cNvSpPr/>
          <p:nvPr/>
        </p:nvSpPr>
        <p:spPr>
          <a:xfrm>
            <a:off x="13290352" y="2410718"/>
            <a:ext cx="90197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W1P</a:t>
            </a:r>
            <a:endParaRPr lang="en-US" sz="1800" dirty="0"/>
          </a:p>
        </p:txBody>
      </p:sp>
      <p:sp>
        <p:nvSpPr>
          <p:cNvPr id="107" name="Shape 105"/>
          <p:cNvSpPr/>
          <p:nvPr/>
        </p:nvSpPr>
        <p:spPr>
          <a:xfrm>
            <a:off x="14211374" y="3029843"/>
            <a:ext cx="1259235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14306624" y="2548830"/>
            <a:ext cx="624111" cy="28575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/>
        </p:spPr>
      </p:sp>
      <p:sp>
        <p:nvSpPr>
          <p:cNvPr id="109" name="Text 107"/>
          <p:cNvSpPr/>
          <p:nvPr/>
        </p:nvSpPr>
        <p:spPr>
          <a:xfrm>
            <a:off x="14420924" y="2558355"/>
            <a:ext cx="457922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</a:t>
            </a:r>
            <a:endParaRPr lang="en-US" sz="1800" dirty="0"/>
          </a:p>
        </p:txBody>
      </p:sp>
      <p:sp>
        <p:nvSpPr>
          <p:cNvPr id="110" name="Shape 108"/>
          <p:cNvSpPr/>
          <p:nvPr/>
        </p:nvSpPr>
        <p:spPr>
          <a:xfrm>
            <a:off x="15470609" y="3029843"/>
            <a:ext cx="2050628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111" name="Text 109"/>
          <p:cNvSpPr/>
          <p:nvPr/>
        </p:nvSpPr>
        <p:spPr>
          <a:xfrm>
            <a:off x="15584909" y="2410718"/>
            <a:ext cx="189822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BUSY 중 발행하는 비동기 요청</a:t>
            </a:r>
            <a:endParaRPr lang="en-US" sz="1800" dirty="0"/>
          </a:p>
        </p:txBody>
      </p:sp>
      <p:sp>
        <p:nvSpPr>
          <p:cNvPr id="112" name="Shape 110"/>
          <p:cNvSpPr/>
          <p:nvPr/>
        </p:nvSpPr>
        <p:spPr>
          <a:xfrm>
            <a:off x="8441010" y="3039368"/>
            <a:ext cx="9080227" cy="676275"/>
          </a:xfrm>
          <a:prstGeom prst="rect">
            <a:avLst/>
          </a:prstGeom>
          <a:solidFill>
            <a:srgbClr val="007AFF">
              <a:alpha val="6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8441010" y="3706118"/>
            <a:ext cx="2081287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114" name="Text 112"/>
          <p:cNvSpPr/>
          <p:nvPr/>
        </p:nvSpPr>
        <p:spPr>
          <a:xfrm>
            <a:off x="8555310" y="3086993"/>
            <a:ext cx="192888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NFC_STATUS (0x0C)</a:t>
            </a:r>
            <a:endParaRPr lang="en-US" sz="1800" dirty="0"/>
          </a:p>
        </p:txBody>
      </p:sp>
      <p:sp>
        <p:nvSpPr>
          <p:cNvPr id="115" name="Shape 113"/>
          <p:cNvSpPr/>
          <p:nvPr/>
        </p:nvSpPr>
        <p:spPr>
          <a:xfrm>
            <a:off x="10522297" y="3706118"/>
            <a:ext cx="2672804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116" name="Text 114"/>
          <p:cNvSpPr/>
          <p:nvPr/>
        </p:nvSpPr>
        <p:spPr>
          <a:xfrm>
            <a:off x="10617547" y="3086993"/>
            <a:ext cx="256248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SUSPENDED[3]</a:t>
            </a:r>
            <a:endParaRPr lang="en-US" sz="1800" dirty="0"/>
          </a:p>
        </p:txBody>
      </p:sp>
      <p:sp>
        <p:nvSpPr>
          <p:cNvPr id="117" name="Shape 115"/>
          <p:cNvSpPr/>
          <p:nvPr/>
        </p:nvSpPr>
        <p:spPr>
          <a:xfrm>
            <a:off x="13195102" y="3706118"/>
            <a:ext cx="1016273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118" name="Text 116"/>
          <p:cNvSpPr/>
          <p:nvPr/>
        </p:nvSpPr>
        <p:spPr>
          <a:xfrm>
            <a:off x="13290352" y="3086993"/>
            <a:ext cx="90197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</a:t>
            </a:r>
            <a:endParaRPr lang="en-US" sz="1800" dirty="0"/>
          </a:p>
        </p:txBody>
      </p:sp>
      <p:sp>
        <p:nvSpPr>
          <p:cNvPr id="119" name="Shape 117"/>
          <p:cNvSpPr/>
          <p:nvPr/>
        </p:nvSpPr>
        <p:spPr>
          <a:xfrm>
            <a:off x="14211374" y="3706118"/>
            <a:ext cx="1259235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14306624" y="3225105"/>
            <a:ext cx="1068735" cy="285750"/>
          </a:xfrm>
          <a:prstGeom prst="roundRect">
            <a:avLst>
              <a:gd name="adj" fmla="val 50000"/>
            </a:avLst>
          </a:prstGeom>
          <a:solidFill>
            <a:srgbClr val="007AFF">
              <a:alpha val="10000"/>
            </a:srgbClr>
          </a:solidFill>
          <a:ln/>
        </p:spPr>
      </p:sp>
      <p:sp>
        <p:nvSpPr>
          <p:cNvPr id="121" name="Text 119"/>
          <p:cNvSpPr/>
          <p:nvPr/>
        </p:nvSpPr>
        <p:spPr>
          <a:xfrm>
            <a:off x="14420924" y="3234630"/>
            <a:ext cx="947008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필드 추가</a:t>
            </a:r>
            <a:endParaRPr lang="en-US" sz="1800" dirty="0"/>
          </a:p>
        </p:txBody>
      </p:sp>
      <p:sp>
        <p:nvSpPr>
          <p:cNvPr id="122" name="Shape 120"/>
          <p:cNvSpPr/>
          <p:nvPr/>
        </p:nvSpPr>
        <p:spPr>
          <a:xfrm>
            <a:off x="15470609" y="3706118"/>
            <a:ext cx="2050628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123" name="Text 121"/>
          <p:cNvSpPr/>
          <p:nvPr/>
        </p:nvSpPr>
        <p:spPr>
          <a:xfrm>
            <a:off x="15584909" y="3086993"/>
            <a:ext cx="189822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Suspend 완료, Read 발행 가능</a:t>
            </a:r>
            <a:endParaRPr lang="en-US" sz="1800" dirty="0"/>
          </a:p>
        </p:txBody>
      </p:sp>
      <p:sp>
        <p:nvSpPr>
          <p:cNvPr id="124" name="Shape 122"/>
          <p:cNvSpPr/>
          <p:nvPr/>
        </p:nvSpPr>
        <p:spPr>
          <a:xfrm>
            <a:off x="8441010" y="3715643"/>
            <a:ext cx="9080227" cy="638175"/>
          </a:xfrm>
          <a:prstGeom prst="rect">
            <a:avLst/>
          </a:prstGeom>
          <a:solidFill>
            <a:srgbClr val="007AFF">
              <a:alpha val="6000"/>
            </a:srgbClr>
          </a:solidFill>
          <a:ln/>
        </p:spPr>
      </p:sp>
      <p:sp>
        <p:nvSpPr>
          <p:cNvPr id="125" name="Shape 123"/>
          <p:cNvSpPr/>
          <p:nvPr/>
        </p:nvSpPr>
        <p:spPr>
          <a:xfrm>
            <a:off x="8441010" y="4344293"/>
            <a:ext cx="2081287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126" name="Text 124"/>
          <p:cNvSpPr/>
          <p:nvPr/>
        </p:nvSpPr>
        <p:spPr>
          <a:xfrm>
            <a:off x="8555310" y="3763268"/>
            <a:ext cx="192888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NFC_STATUS (0x0C)</a:t>
            </a:r>
            <a:endParaRPr lang="en-US" sz="1800" dirty="0"/>
          </a:p>
        </p:txBody>
      </p:sp>
      <p:sp>
        <p:nvSpPr>
          <p:cNvPr id="127" name="Shape 125"/>
          <p:cNvSpPr/>
          <p:nvPr/>
        </p:nvSpPr>
        <p:spPr>
          <a:xfrm>
            <a:off x="10522297" y="4344293"/>
            <a:ext cx="2672804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128" name="Text 126"/>
          <p:cNvSpPr/>
          <p:nvPr/>
        </p:nvSpPr>
        <p:spPr>
          <a:xfrm>
            <a:off x="10617547" y="3763268"/>
            <a:ext cx="25624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SUSP_OP[5:4] (01=PGM, 10=ERS)</a:t>
            </a:r>
            <a:endParaRPr lang="en-US" sz="1800" dirty="0"/>
          </a:p>
        </p:txBody>
      </p:sp>
      <p:sp>
        <p:nvSpPr>
          <p:cNvPr id="129" name="Shape 127"/>
          <p:cNvSpPr/>
          <p:nvPr/>
        </p:nvSpPr>
        <p:spPr>
          <a:xfrm>
            <a:off x="13195102" y="4344293"/>
            <a:ext cx="1016273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130" name="Text 128"/>
          <p:cNvSpPr/>
          <p:nvPr/>
        </p:nvSpPr>
        <p:spPr>
          <a:xfrm>
            <a:off x="13290352" y="3763268"/>
            <a:ext cx="90197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</a:t>
            </a:r>
            <a:endParaRPr lang="en-US" sz="1800" dirty="0"/>
          </a:p>
        </p:txBody>
      </p:sp>
      <p:sp>
        <p:nvSpPr>
          <p:cNvPr id="131" name="Shape 129"/>
          <p:cNvSpPr/>
          <p:nvPr/>
        </p:nvSpPr>
        <p:spPr>
          <a:xfrm>
            <a:off x="14211374" y="4344293"/>
            <a:ext cx="1259235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132" name="Shape 130"/>
          <p:cNvSpPr/>
          <p:nvPr/>
        </p:nvSpPr>
        <p:spPr>
          <a:xfrm>
            <a:off x="14306624" y="3882330"/>
            <a:ext cx="1068735" cy="285750"/>
          </a:xfrm>
          <a:prstGeom prst="roundRect">
            <a:avLst>
              <a:gd name="adj" fmla="val 50000"/>
            </a:avLst>
          </a:prstGeom>
          <a:solidFill>
            <a:srgbClr val="007AFF">
              <a:alpha val="10000"/>
            </a:srgbClr>
          </a:solidFill>
          <a:ln/>
        </p:spPr>
      </p:sp>
      <p:sp>
        <p:nvSpPr>
          <p:cNvPr id="133" name="Text 131"/>
          <p:cNvSpPr/>
          <p:nvPr/>
        </p:nvSpPr>
        <p:spPr>
          <a:xfrm>
            <a:off x="14420924" y="3891855"/>
            <a:ext cx="947008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필드 추가</a:t>
            </a:r>
            <a:endParaRPr lang="en-US" sz="1800" dirty="0"/>
          </a:p>
        </p:txBody>
      </p:sp>
      <p:sp>
        <p:nvSpPr>
          <p:cNvPr id="134" name="Shape 132"/>
          <p:cNvSpPr/>
          <p:nvPr/>
        </p:nvSpPr>
        <p:spPr>
          <a:xfrm>
            <a:off x="15470609" y="4344293"/>
            <a:ext cx="2050628" cy="9525"/>
          </a:xfrm>
          <a:prstGeom prst="rect">
            <a:avLst/>
          </a:prstGeom>
          <a:solidFill>
            <a:srgbClr val="3C3C43">
              <a:alpha val="10000"/>
            </a:srgbClr>
          </a:solidFill>
          <a:ln/>
        </p:spPr>
      </p:sp>
      <p:sp>
        <p:nvSpPr>
          <p:cNvPr id="135" name="Text 133"/>
          <p:cNvSpPr/>
          <p:nvPr/>
        </p:nvSpPr>
        <p:spPr>
          <a:xfrm>
            <a:off x="15584909" y="3763268"/>
            <a:ext cx="189822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중단된 동작 종류</a:t>
            </a:r>
            <a:endParaRPr lang="en-US" sz="1800" dirty="0"/>
          </a:p>
        </p:txBody>
      </p:sp>
      <p:sp>
        <p:nvSpPr>
          <p:cNvPr id="136" name="Shape 134"/>
          <p:cNvSpPr/>
          <p:nvPr/>
        </p:nvSpPr>
        <p:spPr>
          <a:xfrm>
            <a:off x="8441010" y="4353818"/>
            <a:ext cx="9080227" cy="657225"/>
          </a:xfrm>
          <a:prstGeom prst="rect">
            <a:avLst/>
          </a:prstGeom>
          <a:solidFill>
            <a:srgbClr val="007AFF">
              <a:alpha val="6000"/>
            </a:srgbClr>
          </a:solidFill>
          <a:ln/>
        </p:spPr>
      </p:sp>
      <p:sp>
        <p:nvSpPr>
          <p:cNvPr id="137" name="Text 135"/>
          <p:cNvSpPr/>
          <p:nvPr/>
        </p:nvSpPr>
        <p:spPr>
          <a:xfrm>
            <a:off x="8555310" y="4401443"/>
            <a:ext cx="1928887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NFC_INT_EN (0x10)</a:t>
            </a:r>
            <a:endParaRPr lang="en-US" sz="1800" dirty="0"/>
          </a:p>
        </p:txBody>
      </p:sp>
      <p:sp>
        <p:nvSpPr>
          <p:cNvPr id="138" name="Text 136"/>
          <p:cNvSpPr/>
          <p:nvPr/>
        </p:nvSpPr>
        <p:spPr>
          <a:xfrm>
            <a:off x="10617547" y="4401443"/>
            <a:ext cx="2562488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SUSP_DONE_EN[2], RESUME_DONE_EN[3]</a:t>
            </a:r>
            <a:endParaRPr lang="en-US" sz="1800" dirty="0"/>
          </a:p>
        </p:txBody>
      </p:sp>
      <p:sp>
        <p:nvSpPr>
          <p:cNvPr id="139" name="Text 137"/>
          <p:cNvSpPr/>
          <p:nvPr/>
        </p:nvSpPr>
        <p:spPr>
          <a:xfrm>
            <a:off x="13290352" y="4401443"/>
            <a:ext cx="901973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</a:t>
            </a:r>
            <a:endParaRPr lang="en-US" sz="1800" dirty="0"/>
          </a:p>
        </p:txBody>
      </p:sp>
      <p:sp>
        <p:nvSpPr>
          <p:cNvPr id="140" name="Shape 138"/>
          <p:cNvSpPr/>
          <p:nvPr/>
        </p:nvSpPr>
        <p:spPr>
          <a:xfrm>
            <a:off x="14306624" y="4530030"/>
            <a:ext cx="1068735" cy="285750"/>
          </a:xfrm>
          <a:prstGeom prst="roundRect">
            <a:avLst>
              <a:gd name="adj" fmla="val 50000"/>
            </a:avLst>
          </a:prstGeom>
          <a:solidFill>
            <a:srgbClr val="007AFF">
              <a:alpha val="10000"/>
            </a:srgbClr>
          </a:solidFill>
          <a:ln/>
        </p:spPr>
      </p:sp>
      <p:sp>
        <p:nvSpPr>
          <p:cNvPr id="141" name="Text 139"/>
          <p:cNvSpPr/>
          <p:nvPr/>
        </p:nvSpPr>
        <p:spPr>
          <a:xfrm>
            <a:off x="14420924" y="4539555"/>
            <a:ext cx="947008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필드 추가</a:t>
            </a:r>
            <a:endParaRPr lang="en-US" sz="1800" dirty="0"/>
          </a:p>
        </p:txBody>
      </p:sp>
      <p:sp>
        <p:nvSpPr>
          <p:cNvPr id="142" name="Text 140"/>
          <p:cNvSpPr/>
          <p:nvPr/>
        </p:nvSpPr>
        <p:spPr>
          <a:xfrm>
            <a:off x="15584909" y="4401443"/>
            <a:ext cx="1898228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Suspend/Resume 완료 인터럽트</a:t>
            </a:r>
            <a:endParaRPr lang="en-US" sz="1800" dirty="0"/>
          </a:p>
        </p:txBody>
      </p:sp>
      <p:sp>
        <p:nvSpPr>
          <p:cNvPr id="143" name="Shape 141"/>
          <p:cNvSpPr/>
          <p:nvPr/>
        </p:nvSpPr>
        <p:spPr>
          <a:xfrm>
            <a:off x="8436248" y="5130105"/>
            <a:ext cx="9089752" cy="4909245"/>
          </a:xfrm>
          <a:prstGeom prst="roundRect">
            <a:avLst>
              <a:gd name="adj" fmla="val 23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144" name="Text 142"/>
          <p:cNvSpPr/>
          <p:nvPr/>
        </p:nvSpPr>
        <p:spPr>
          <a:xfrm>
            <a:off x="8645798" y="5244405"/>
            <a:ext cx="8943345" cy="471874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C93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NEW: suspend/resume은 BUSY 중 발행되는 비동기 요청</a:t>
            </a:r>
            <a:endParaRPr lang="en-US" sz="18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C93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→ NFC_CMD와 분리해 진행 중 커맨드 레지스터의</a:t>
            </a:r>
            <a:endParaRPr lang="en-US" sz="18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C93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RMW 해저드를 원천 차단 </a:t>
            </a:r>
            <a:endParaRPr lang="en-US" sz="18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 nfc_susp_ctrl {</a:t>
            </a:r>
            <a:endParaRPr lang="en-US" sz="18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field { sw = w; hw = r; singlepulse; } </a:t>
            </a:r>
            <a:endParaRPr lang="en-US" sz="18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800" b="1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SUSPEND_REQ </a:t>
            </a:r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[0:0];</a:t>
            </a:r>
            <a:endParaRPr lang="en-US" sz="18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field { sw = w; hw = r; singlepulse; }  </a:t>
            </a:r>
            <a:endParaRPr lang="en-US" sz="18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800" b="1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RESUME_REQ </a:t>
            </a:r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[1:1];</a:t>
            </a:r>
            <a:endParaRPr lang="en-US" sz="18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800" dirty="0"/>
          </a:p>
          <a:p>
            <a:pPr algn="l" indent="0" marL="0">
              <a:lnSpc>
                <a:spcPct val="122000"/>
              </a:lnSpc>
              <a:buNone/>
            </a:pPr>
            <a:endParaRPr lang="en-US" sz="18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 nfc_status {</a:t>
            </a:r>
            <a:endParaRPr lang="en-US" sz="18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field { sw = r;  hw = w; }          BUSY      [0:0];</a:t>
            </a:r>
            <a:endParaRPr lang="en-US" sz="18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field { sw = rw; onwrite = woclr; } DONE      [1:1];</a:t>
            </a:r>
            <a:endParaRPr lang="en-US" sz="18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field { sw = rw; onwrite = woclr; } ERR       [2:2];</a:t>
            </a:r>
            <a:endParaRPr lang="en-US" sz="18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field { sw = r;  hw = w; }           </a:t>
            </a:r>
            <a:endParaRPr lang="en-US" sz="18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800" b="1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SUSPENDED</a:t>
            </a:r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[3:3]; </a:t>
            </a:r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C93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NEW </a:t>
            </a:r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field { sw = r;  hw = w; }          </a:t>
            </a:r>
            <a:pPr algn="l" indent="0" marL="0">
              <a:lnSpc>
                <a:spcPct val="122000"/>
              </a:lnSpc>
              <a:buNone/>
            </a:pPr>
            <a:r>
              <a:rPr lang="en-US" sz="1800" b="1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SUSP_OP</a:t>
            </a:r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[5:4]; </a:t>
            </a:r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C93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NEW </a:t>
            </a:r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00050"/>
            <a:ext cx="9375316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예제 ② — HAL 설계와 구현: 시퀀스가 곧 검증이 된다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4968612" y="585788"/>
            <a:ext cx="2813127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07 · SoC 검증 FW × 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62000" y="1062038"/>
            <a:ext cx="919981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HAL API — RTL 설계 전에 확정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1423988"/>
            <a:ext cx="8363471" cy="1752377"/>
          </a:xfrm>
          <a:prstGeom prst="roundRect">
            <a:avLst>
              <a:gd name="adj" fmla="val 65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52500" y="1557338"/>
            <a:ext cx="8233375" cy="152377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hal_status_t hal_nfc_suspend(nfc_susp_ctx_t *ctx,</a:t>
            </a:r>
            <a:endParaRPr lang="en-US" sz="1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uint32_t timeout_us);</a:t>
            </a:r>
            <a:endParaRPr lang="en-US" sz="1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hal_status_t hal_nfc_read_suspended(uint32_t row,</a:t>
            </a:r>
            <a:endParaRPr lang="en-US" sz="1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uint16_t col, void *buf, size_t len);</a:t>
            </a:r>
            <a:endParaRPr lang="en-US" sz="1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hal_status_t hal_nfc_resume(const nfc_susp_ctx_t *ctx);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3252564"/>
            <a:ext cx="861437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suspend가 컨텍스트(ctx)를 반환, resume이 이를 받음 — 잘못된 순서 호출을 API 타입 수준에서 차단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15971" y="1062038"/>
            <a:ext cx="958429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MACHINE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315971" y="1404938"/>
            <a:ext cx="8712994" cy="2464817"/>
          </a:xfrm>
          <a:prstGeom prst="roundRect">
            <a:avLst>
              <a:gd name="adj" fmla="val 4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506471" y="1576388"/>
            <a:ext cx="817215" cy="419100"/>
          </a:xfrm>
          <a:prstGeom prst="roundRect">
            <a:avLst>
              <a:gd name="adj" fmla="val 18182"/>
            </a:avLst>
          </a:prstGeom>
          <a:solidFill>
            <a:srgbClr val="F2F2F7"/>
          </a:solidFill>
          <a:ln/>
        </p:spPr>
      </p:sp>
      <p:sp>
        <p:nvSpPr>
          <p:cNvPr id="11" name="Text 9"/>
          <p:cNvSpPr/>
          <p:nvPr/>
        </p:nvSpPr>
        <p:spPr>
          <a:xfrm>
            <a:off x="9639821" y="1652587"/>
            <a:ext cx="6267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380836" y="1652588"/>
            <a:ext cx="2839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645750" y="1576388"/>
            <a:ext cx="2055912" cy="419100"/>
          </a:xfrm>
          <a:prstGeom prst="roundRect">
            <a:avLst>
              <a:gd name="adj" fmla="val 18182"/>
            </a:avLst>
          </a:prstGeom>
          <a:solidFill>
            <a:srgbClr val="F2F2F7"/>
          </a:solidFill>
          <a:ln/>
        </p:spPr>
      </p:sp>
      <p:sp>
        <p:nvSpPr>
          <p:cNvPr id="14" name="Text 12"/>
          <p:cNvSpPr/>
          <p:nvPr/>
        </p:nvSpPr>
        <p:spPr>
          <a:xfrm>
            <a:off x="10779100" y="1652587"/>
            <a:ext cx="186541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2F2F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BUSY</a:t>
            </a:r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(PGM/ERS)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758812" y="1561133"/>
            <a:ext cx="1665350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SUSPEND_REQ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394308" y="1827833"/>
            <a:ext cx="319088" cy="220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dirty="0">
                <a:solidFill>
                  <a:srgbClr val="3C3C43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⟶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4329916" y="1576388"/>
            <a:ext cx="1642988" cy="419100"/>
          </a:xfrm>
          <a:prstGeom prst="roundRect">
            <a:avLst>
              <a:gd name="adj" fmla="val 18182"/>
            </a:avLst>
          </a:prstGeom>
          <a:solidFill>
            <a:srgbClr val="F2F2F7"/>
          </a:solidFill>
          <a:ln/>
        </p:spPr>
      </p:sp>
      <p:sp>
        <p:nvSpPr>
          <p:cNvPr id="18" name="Text 16"/>
          <p:cNvSpPr/>
          <p:nvPr/>
        </p:nvSpPr>
        <p:spPr>
          <a:xfrm>
            <a:off x="14463266" y="1652587"/>
            <a:ext cx="14524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SUSPENDING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30054" y="1652588"/>
            <a:ext cx="2839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6294968" y="1557338"/>
            <a:ext cx="1543496" cy="457200"/>
          </a:xfrm>
          <a:prstGeom prst="roundRect">
            <a:avLst>
              <a:gd name="adj" fmla="val 16667"/>
            </a:avLst>
          </a:prstGeom>
          <a:solidFill>
            <a:srgbClr val="007AFF">
              <a:alpha val="8000"/>
            </a:srgbClr>
          </a:solidFill>
          <a:ln w="19050">
            <a:solidFill>
              <a:srgbClr val="007A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47368" y="1652588"/>
            <a:ext cx="13148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SUSPENDED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54221" y="2071688"/>
            <a:ext cx="85665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</a:t>
            </a:r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25798" y="2071688"/>
            <a:ext cx="10550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timeout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4294421" y="2357438"/>
            <a:ext cx="641524" cy="304800"/>
          </a:xfrm>
          <a:prstGeom prst="roundRect">
            <a:avLst>
              <a:gd name="adj" fmla="val 25000"/>
            </a:avLst>
          </a:prstGeom>
          <a:solidFill>
            <a:srgbClr val="FF3B30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4408721" y="2376488"/>
            <a:ext cx="4770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342891" y="2071688"/>
            <a:ext cx="1571774" cy="609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이 상태에서만 Read 발행 가능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935221" y="3043238"/>
            <a:ext cx="6522244" cy="1905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28" name="Shape 26"/>
          <p:cNvSpPr/>
          <p:nvPr/>
        </p:nvSpPr>
        <p:spPr>
          <a:xfrm>
            <a:off x="10935221" y="2681288"/>
            <a:ext cx="19050" cy="38100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7438415" y="2681288"/>
            <a:ext cx="19050" cy="38100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30" name="Text 28"/>
          <p:cNvSpPr/>
          <p:nvPr/>
        </p:nvSpPr>
        <p:spPr>
          <a:xfrm>
            <a:off x="10868546" y="2566988"/>
            <a:ext cx="2523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2645628" y="2814638"/>
            <a:ext cx="3101429" cy="2809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2759928" y="2814638"/>
            <a:ext cx="3182972" cy="3190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RESUME_REQ → BUSY 복귀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62000" y="4003104"/>
            <a:ext cx="8783910" cy="3777853"/>
          </a:xfrm>
          <a:prstGeom prst="roundRect">
            <a:avLst>
              <a:gd name="adj" fmla="val 30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52500" y="4136454"/>
            <a:ext cx="8666428" cy="354925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hal_status_t hal_nfc_suspend(nfc_susp_ctx_t *ctx,</a:t>
            </a: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uint32_t timeout_us)</a:t>
            </a: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(!(REG_RD(NFC_STATUS) &amp; STATUS_BUSY))</a:t>
            </a: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HAL_ERR_NOT_BUSY;  </a:t>
            </a: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중단할 동작 없음 */ </a:t>
            </a:r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REG_WR(</a:t>
            </a:r>
            <a:pPr algn="l"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NFC_SUSP_CTRL</a:t>
            </a:r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SUSPEND_REQ </a:t>
            </a:r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(poll_bit_set(NFC_STATUS,  </a:t>
            </a: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SUSPENDED </a:t>
            </a:r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timeout_us))</a:t>
            </a: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HAL_ERR_TIMEOUT;   </a:t>
            </a: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C93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tSUSP 초과 → 에러 경로 */ </a:t>
            </a:r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ctx-&gt;op  = FIELD_GET(REG_RD(NFC_STATUS), </a:t>
            </a:r>
            <a:pPr algn="l"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SUSP_OP </a:t>
            </a:r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ctx-&gt;row = REG_RD(NFC_ADDR_ROW);  </a:t>
            </a: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컨텍스트 저장 */ </a:t>
            </a:r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HAL_OK;</a:t>
            </a: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736410" y="4003104"/>
            <a:ext cx="7789515" cy="3777853"/>
          </a:xfrm>
          <a:prstGeom prst="roundRect">
            <a:avLst>
              <a:gd name="adj" fmla="val 30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926910" y="4136454"/>
            <a:ext cx="7642201" cy="354925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hal_status_t hal_nfc_resume(const nfc_susp_ctx_t *ctx)</a:t>
            </a: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(!(REG_RD(NFC_STATUS) &amp;  </a:t>
            </a: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STATUS_SUSPENDED </a:t>
            </a:r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HAL_ERR_STATE;  </a:t>
            </a: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C93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상태 머신 위반 차단 */ </a:t>
            </a:r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REG_WR(</a:t>
            </a:r>
            <a:pPr algn="l"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NFC_SUSP_CTRL</a:t>
            </a:r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007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RESUME_REQ </a:t>
            </a:r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poll_bit_set(NFC_STATUS, STATUS_BUSY,</a:t>
            </a: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RESUME_TIMEOUT_US)</a:t>
            </a: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? HAL_ERR_TIMEOUT : HAL_OK;</a:t>
            </a:r>
            <a:endParaRPr lang="en-US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1D1D1F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62000" y="7914308"/>
            <a:ext cx="16764000" cy="883890"/>
          </a:xfrm>
          <a:prstGeom prst="roundRect">
            <a:avLst>
              <a:gd name="adj" fmla="val 15087"/>
            </a:avLst>
          </a:prstGeom>
          <a:solidFill>
            <a:srgbClr val="FF9500">
              <a:alpha val="1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971550" y="8070503"/>
            <a:ext cx="2140669" cy="609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3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SystemRDL + HAL ──── AI ────▶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245569" y="8047658"/>
            <a:ext cx="4713222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C93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C3C4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시나리오 — PGM 중 suspend → read → resume 후 데이터 무결성 확인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992963" y="8047658"/>
            <a:ext cx="4713299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C93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C3C4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SVA assertion — SUSPEND_REQ 후 tSUSP 이내 SUSPENDED 어서트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2740432" y="8047658"/>
            <a:ext cx="4713299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C93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C3C4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프로그래머스 가이드 시퀀스 표 · SFR 문서 · 헤더 파일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62000" y="8931548"/>
            <a:ext cx="47625" cy="34290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/>
        </p:spPr>
      </p:sp>
      <p:sp>
        <p:nvSpPr>
          <p:cNvPr id="43" name="Text 41"/>
          <p:cNvSpPr/>
          <p:nvPr/>
        </p:nvSpPr>
        <p:spPr>
          <a:xfrm>
            <a:off x="942975" y="8935864"/>
            <a:ext cx="1592359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설계자는 이 SystemRDL과 HAL을 명세로 받아 설계에만 집중한다 — RTL이 완성되는 순간, 위의 HAL 코드가 그대로 첫 번째 검증 테스트가 된다.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38150"/>
            <a:ext cx="6834113" cy="595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 — Interface-First가 바꾸는 것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14961766" y="642938"/>
            <a:ext cx="2820658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07 · SoC 검증 FW × AI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62000" y="1223963"/>
            <a:ext cx="16764000" cy="2417415"/>
          </a:xfrm>
          <a:prstGeom prst="roundRect">
            <a:avLst>
              <a:gd name="adj" fmla="val 5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78365" y="1643063"/>
            <a:ext cx="5531270" cy="116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300" b="1" spc="-3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사용하는 쪽이 설계할 때, 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spc="-30" kern="0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좋은 인터페이스가 나옵니다.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3906560" y="2888903"/>
            <a:ext cx="1047488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역할과 순서를 역전시키면, RTL 설계 전에 인터페이스와 HAL이 완성되고 검증과 문서화가 자동화됩니다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762000" y="3869978"/>
            <a:ext cx="16764000" cy="4988272"/>
          </a:xfrm>
          <a:prstGeom prst="roundRect">
            <a:avLst>
              <a:gd name="adj" fmla="val 2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81100" y="4585841"/>
            <a:ext cx="4194795" cy="1694408"/>
          </a:xfrm>
          <a:prstGeom prst="roundRect">
            <a:avLst>
              <a:gd name="adj" fmla="val 6746"/>
            </a:avLst>
          </a:prstGeom>
          <a:solidFill>
            <a:srgbClr val="F2F2F7"/>
          </a:solidFill>
          <a:ln/>
        </p:spPr>
      </p:sp>
      <p:sp>
        <p:nvSpPr>
          <p:cNvPr id="9" name="Text 7"/>
          <p:cNvSpPr/>
          <p:nvPr/>
        </p:nvSpPr>
        <p:spPr>
          <a:xfrm>
            <a:off x="1409700" y="4757291"/>
            <a:ext cx="41113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FW 아키텍트 + AI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09700" y="5100191"/>
            <a:ext cx="4111355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계약을 설계합니다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409700" y="5491609"/>
            <a:ext cx="3849723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→ HAL prototype → SFR 구조 + 시퀀스 · Slide 2–4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701978" y="5097289"/>
            <a:ext cx="4717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737845" y="5383039"/>
            <a:ext cx="40005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⟶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423645" y="4585841"/>
            <a:ext cx="5440710" cy="1694408"/>
          </a:xfrm>
          <a:prstGeom prst="roundRect">
            <a:avLst>
              <a:gd name="adj" fmla="val 7870"/>
            </a:avLst>
          </a:prstGeom>
          <a:solidFill>
            <a:srgbClr val="007AFF"/>
          </a:solidFill>
          <a:ln/>
          <a:effectLst>
            <a:outerShdw sx="100000" sy="100000" kx="0" ky="0" algn="bl" rotWithShape="0" blurRad="152400" dist="38100" dir="5400000">
              <a:srgbClr val="007AFF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84712" y="4940126"/>
            <a:ext cx="211850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80" kern="0" dirty="0">
                <a:solidFill>
                  <a:srgbClr val="FFFFFF">
                    <a:alpha val="7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CONTRACT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42880" y="5244926"/>
            <a:ext cx="3402241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SystemRDL + HAL 코드</a:t>
            </a:r>
            <a:endParaRPr lang="en-US" sz="2325" dirty="0"/>
          </a:p>
        </p:txBody>
      </p:sp>
      <p:sp>
        <p:nvSpPr>
          <p:cNvPr id="17" name="Text 15"/>
          <p:cNvSpPr/>
          <p:nvPr/>
        </p:nvSpPr>
        <p:spPr>
          <a:xfrm>
            <a:off x="7956854" y="5659264"/>
            <a:ext cx="2374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190437" y="5097289"/>
            <a:ext cx="4717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명세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226305" y="5383039"/>
            <a:ext cx="40005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⟶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2912105" y="4585841"/>
            <a:ext cx="4194795" cy="1694408"/>
          </a:xfrm>
          <a:prstGeom prst="roundRect">
            <a:avLst>
              <a:gd name="adj" fmla="val 6746"/>
            </a:avLst>
          </a:prstGeom>
          <a:solidFill>
            <a:srgbClr val="F2F2F7"/>
          </a:solidFill>
          <a:ln/>
        </p:spPr>
      </p:sp>
      <p:sp>
        <p:nvSpPr>
          <p:cNvPr id="21" name="Text 19"/>
          <p:cNvSpPr/>
          <p:nvPr/>
        </p:nvSpPr>
        <p:spPr>
          <a:xfrm>
            <a:off x="13140705" y="4757291"/>
            <a:ext cx="41113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C3C43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설계자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140705" y="5100191"/>
            <a:ext cx="4111355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설계에만 집중합니다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13140705" y="5491609"/>
            <a:ext cx="3849723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 제약은 리뷰 게이트에서 검토 · Slide 2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34475" y="6413599"/>
            <a:ext cx="19050" cy="171450"/>
          </a:xfrm>
          <a:prstGeom prst="rect">
            <a:avLst/>
          </a:prstGeom>
          <a:solidFill>
            <a:srgbClr val="C93400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046021" y="6604099"/>
            <a:ext cx="24155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3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자동 파생 · Slide 5 ▼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81100" y="7023199"/>
            <a:ext cx="3881438" cy="457200"/>
          </a:xfrm>
          <a:prstGeom prst="roundRect">
            <a:avLst>
              <a:gd name="adj" fmla="val 50000"/>
            </a:avLst>
          </a:prstGeom>
          <a:solidFill>
            <a:srgbClr val="FF9500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122878" y="7108924"/>
            <a:ext cx="399788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3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SFR 문서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195888" y="7023199"/>
            <a:ext cx="3881438" cy="457200"/>
          </a:xfrm>
          <a:prstGeom prst="roundRect">
            <a:avLst>
              <a:gd name="adj" fmla="val 50000"/>
            </a:avLst>
          </a:prstGeom>
          <a:solidFill>
            <a:srgbClr val="FF9500">
              <a:alpha val="1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137666" y="7108924"/>
            <a:ext cx="399788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3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프로그래머스 가이드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210675" y="7023199"/>
            <a:ext cx="3881438" cy="457200"/>
          </a:xfrm>
          <a:prstGeom prst="roundRect">
            <a:avLst>
              <a:gd name="adj" fmla="val 50000"/>
            </a:avLst>
          </a:prstGeom>
          <a:solidFill>
            <a:srgbClr val="FF9500">
              <a:alpha val="1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152453" y="7108924"/>
            <a:ext cx="399788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3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헤더 파일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3225463" y="7023199"/>
            <a:ext cx="3881438" cy="457200"/>
          </a:xfrm>
          <a:prstGeom prst="roundRect">
            <a:avLst>
              <a:gd name="adj" fmla="val 50000"/>
            </a:avLst>
          </a:prstGeom>
          <a:solidFill>
            <a:srgbClr val="FF9500">
              <a:alpha val="1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3167241" y="7108924"/>
            <a:ext cx="399788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3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시퀀스 · SVA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181100" y="7613749"/>
            <a:ext cx="15925800" cy="528638"/>
          </a:xfrm>
          <a:prstGeom prst="roundRect">
            <a:avLst>
              <a:gd name="adj" fmla="val 21622"/>
            </a:avLst>
          </a:prstGeom>
          <a:solidFill>
            <a:srgbClr val="007AFF">
              <a:alpha val="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170813" y="7728049"/>
            <a:ext cx="1594637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RTL이 완성되는 순간, 이 계약이 그대로 첫 번째 검증 테스트가 됩니다 — 검증 착수 리드타임 제로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762000" y="9086850"/>
            <a:ext cx="16764000" cy="7810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028700" y="9327356"/>
            <a:ext cx="950565" cy="3381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단계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2093565" y="9239250"/>
            <a:ext cx="4751933" cy="476250"/>
          </a:xfrm>
          <a:prstGeom prst="roundRect">
            <a:avLst>
              <a:gd name="adj" fmla="val 20000"/>
            </a:avLst>
          </a:prstGeom>
          <a:solidFill>
            <a:srgbClr val="007AFF">
              <a:alpha val="8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2193736" y="9334500"/>
            <a:ext cx="455159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</a:t>
            </a:r>
            <a:pPr algn="ctr" indent="0" marL="0">
              <a:buNone/>
            </a:pPr>
            <a:r>
              <a:rPr lang="en-US" sz="1800" dirty="0">
                <a:solidFill>
                  <a:srgbClr val="3C3C43">
                    <a:alpha val="85000"/>
                  </a:srgbClr>
                </a:solidFill>
                <a:highlight>
                  <a:srgbClr val="EBF4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파일럿 IP 1건 선정, 새 흐름으로 개발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959798" y="9332119"/>
            <a:ext cx="30256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C3C43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7300466" y="9239250"/>
            <a:ext cx="4751933" cy="476250"/>
          </a:xfrm>
          <a:prstGeom prst="roundRect">
            <a:avLst>
              <a:gd name="adj" fmla="val 20000"/>
            </a:avLst>
          </a:prstGeom>
          <a:solidFill>
            <a:srgbClr val="007AFF">
              <a:alpha val="8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400637" y="9334500"/>
            <a:ext cx="455159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</a:t>
            </a:r>
            <a:pPr algn="ctr" indent="0" marL="0">
              <a:buNone/>
            </a:pPr>
            <a:r>
              <a:rPr lang="en-US" sz="1800" dirty="0">
                <a:solidFill>
                  <a:srgbClr val="3C3C43">
                    <a:alpha val="85000"/>
                  </a:srgbClr>
                </a:solidFill>
                <a:highlight>
                  <a:srgbClr val="EBF4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SystemRDL 리뷰 게이트를 표준 절차로 정착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2166699" y="9332119"/>
            <a:ext cx="30256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C3C43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12507367" y="9239250"/>
            <a:ext cx="4751933" cy="476250"/>
          </a:xfrm>
          <a:prstGeom prst="roundRect">
            <a:avLst>
              <a:gd name="adj" fmla="val 20000"/>
            </a:avLst>
          </a:prstGeom>
          <a:solidFill>
            <a:srgbClr val="007AFF">
              <a:alpha val="8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2607538" y="9334500"/>
            <a:ext cx="455159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</a:t>
            </a:r>
            <a:pPr algn="ctr" indent="0" marL="0">
              <a:buNone/>
            </a:pPr>
            <a:r>
              <a:rPr lang="en-US" sz="1800" dirty="0">
                <a:solidFill>
                  <a:srgbClr val="3C3C43">
                    <a:alpha val="85000"/>
                  </a:srgbClr>
                </a:solidFill>
                <a:highlight>
                  <a:srgbClr val="EBF4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AI 산출물 자동 파생 파이프라인 구축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00050"/>
            <a:ext cx="8134878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계획 — 다음 과제의 마일스톤별 진행 모습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5077480" y="585788"/>
            <a:ext cx="2798147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07 · SoC 검증 FW × AI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44885" y="1309688"/>
            <a:ext cx="15598229" cy="19050"/>
          </a:xfrm>
          <a:prstGeom prst="rect">
            <a:avLst/>
          </a:prstGeom>
          <a:solidFill>
            <a:srgbClr val="D1D1D6"/>
          </a:solidFill>
          <a:ln/>
        </p:spPr>
      </p:sp>
      <p:sp>
        <p:nvSpPr>
          <p:cNvPr id="5" name="Shape 3"/>
          <p:cNvSpPr/>
          <p:nvPr/>
        </p:nvSpPr>
        <p:spPr>
          <a:xfrm>
            <a:off x="1814513" y="1138238"/>
            <a:ext cx="419100" cy="4191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7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4988" y="1166813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51955" y="1614488"/>
            <a:ext cx="14785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 · 개발 착수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4662488" y="1138238"/>
            <a:ext cx="419100" cy="4191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7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2962" y="1166813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087862" y="1614488"/>
            <a:ext cx="172518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· 디자인 리뷰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7539037" y="1138238"/>
            <a:ext cx="361950" cy="361950"/>
          </a:xfrm>
          <a:prstGeom prst="ellipse">
            <a:avLst/>
          </a:prstGeom>
          <a:solidFill>
            <a:srgbClr val="007AFF"/>
          </a:solidFill>
          <a:ln/>
        </p:spPr>
      </p:sp>
      <p:sp>
        <p:nvSpPr>
          <p:cNvPr id="12" name="Text 10"/>
          <p:cNvSpPr/>
          <p:nvPr/>
        </p:nvSpPr>
        <p:spPr>
          <a:xfrm>
            <a:off x="7500938" y="1138238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76442" y="1557338"/>
            <a:ext cx="2075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+1주 · 계약 확정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0358438" y="1138238"/>
            <a:ext cx="419100" cy="4191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E8E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48913" y="1166813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3C43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119643" y="1614488"/>
            <a:ext cx="97281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설계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3206413" y="1138238"/>
            <a:ext cx="419100" cy="4191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9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196888" y="1166813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3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559457" y="1614488"/>
            <a:ext cx="188423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SVP · FPGA 검증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6054388" y="1138238"/>
            <a:ext cx="419100" cy="4191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9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044863" y="1166813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3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25229" y="1614488"/>
            <a:ext cx="162507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FFN · 기능 확정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666750" y="2066925"/>
            <a:ext cx="2714625" cy="5614988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9150" y="2219325"/>
            <a:ext cx="2290911" cy="323850"/>
          </a:xfrm>
          <a:prstGeom prst="roundRect">
            <a:avLst>
              <a:gd name="adj" fmla="val 50000"/>
            </a:avLst>
          </a:prstGeom>
          <a:solidFill>
            <a:srgbClr val="007AFF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" y="2238375"/>
            <a:ext cx="22533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+ FW 아키텍트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19150" y="2638425"/>
            <a:ext cx="248602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C3C4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기능 명세 도출, 기능 항목 확정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19150" y="3350865"/>
            <a:ext cx="28575" cy="925785"/>
          </a:xfrm>
          <a:prstGeom prst="rect">
            <a:avLst/>
          </a:prstGeom>
          <a:solidFill>
            <a:srgbClr val="007AFF">
              <a:alpha val="3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42975" y="3350865"/>
            <a:ext cx="2362200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기존 IP 명세·유사 기능 사례를 분석해 항목 도출 보조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19150" y="5672138"/>
            <a:ext cx="2409825" cy="9525"/>
          </a:xfrm>
          <a:prstGeom prst="rect">
            <a:avLst/>
          </a:prstGeom>
          <a:solidFill>
            <a:srgbClr val="3C3C43">
              <a:alpha val="1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19150" y="5757863"/>
            <a:ext cx="24860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19150" y="6119813"/>
            <a:ext cx="2409825" cy="666750"/>
          </a:xfrm>
          <a:prstGeom prst="roundRect">
            <a:avLst>
              <a:gd name="adj" fmla="val 11429"/>
            </a:avLst>
          </a:prstGeom>
          <a:solidFill>
            <a:srgbClr val="007AFF">
              <a:alpha val="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33450" y="6176963"/>
            <a:ext cx="23993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요구사항 명세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33450" y="6462713"/>
            <a:ext cx="23993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19150" y="6862763"/>
            <a:ext cx="2409825" cy="666750"/>
          </a:xfrm>
          <a:prstGeom prst="roundRect">
            <a:avLst>
              <a:gd name="adj" fmla="val 11429"/>
            </a:avLst>
          </a:prstGeom>
          <a:solidFill>
            <a:srgbClr val="007AFF">
              <a:alpha val="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933450" y="6919913"/>
            <a:ext cx="23993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항목 리스트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33450" y="7205663"/>
            <a:ext cx="23993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checklist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3514725" y="2066925"/>
            <a:ext cx="2714625" cy="5614988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67125" y="2219325"/>
            <a:ext cx="2358628" cy="323850"/>
          </a:xfrm>
          <a:prstGeom prst="roundRect">
            <a:avLst>
              <a:gd name="adj" fmla="val 50000"/>
            </a:avLst>
          </a:prstGeom>
          <a:solidFill>
            <a:srgbClr val="007AFF">
              <a:alpha val="1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3800475" y="2238375"/>
            <a:ext cx="232779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FW 아키텍트 + AI 초안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667125" y="2638425"/>
            <a:ext cx="248602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C3C4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 prototype 결정, RTL 설계자 사전 리뷰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3667125" y="3350865"/>
            <a:ext cx="28575" cy="925785"/>
          </a:xfrm>
          <a:prstGeom prst="rect">
            <a:avLst/>
          </a:prstGeom>
          <a:solidFill>
            <a:srgbClr val="007AFF">
              <a:alpha val="3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790950" y="3350865"/>
            <a:ext cx="2362200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시퀀스를 직접 써보며 API의 어색함을 이 단계에서 걸러냄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3667125" y="5691188"/>
            <a:ext cx="2409825" cy="9525"/>
          </a:xfrm>
          <a:prstGeom prst="rect">
            <a:avLst/>
          </a:prstGeom>
          <a:solidFill>
            <a:srgbClr val="3C3C43">
              <a:alpha val="12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3667125" y="5776913"/>
            <a:ext cx="24860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3667125" y="6138863"/>
            <a:ext cx="2409825" cy="647700"/>
          </a:xfrm>
          <a:prstGeom prst="roundRect">
            <a:avLst>
              <a:gd name="adj" fmla="val 11765"/>
            </a:avLst>
          </a:prstGeom>
          <a:solidFill>
            <a:srgbClr val="007AFF">
              <a:alpha val="8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3781425" y="6196013"/>
            <a:ext cx="23993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 API prototype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3781425" y="6462713"/>
            <a:ext cx="23993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3667125" y="6862763"/>
            <a:ext cx="2409825" cy="666750"/>
          </a:xfrm>
          <a:prstGeom prst="roundRect">
            <a:avLst>
              <a:gd name="adj" fmla="val 11429"/>
            </a:avLst>
          </a:prstGeom>
          <a:solidFill>
            <a:srgbClr val="007AFF">
              <a:alpha val="8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3781425" y="6919913"/>
            <a:ext cx="23993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Use-case 시퀀스 초안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3781425" y="7205663"/>
            <a:ext cx="23993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pseudo-code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6362700" y="2066925"/>
            <a:ext cx="2714625" cy="5614988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007A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7AFF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534150" y="2238375"/>
            <a:ext cx="1914079" cy="32385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/>
        </p:spPr>
      </p:sp>
      <p:sp>
        <p:nvSpPr>
          <p:cNvPr id="53" name="Text 51"/>
          <p:cNvSpPr/>
          <p:nvPr/>
        </p:nvSpPr>
        <p:spPr>
          <a:xfrm>
            <a:off x="6667500" y="2257425"/>
            <a:ext cx="183878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FW 아키텍트 + AI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6534150" y="2657475"/>
            <a:ext cx="2447925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C3C4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 구현 + SFR 구조 변경 확정 → </a:t>
            </a:r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설계자에게 즉시 전달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6534150" y="3678510"/>
            <a:ext cx="28575" cy="61719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56" name="Text 54"/>
          <p:cNvSpPr/>
          <p:nvPr/>
        </p:nvSpPr>
        <p:spPr>
          <a:xfrm>
            <a:off x="6657975" y="3678510"/>
            <a:ext cx="232410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초안 + 아키텍트 판단·확정으로 1주 내 완결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6534150" y="4629150"/>
            <a:ext cx="2371725" cy="9525"/>
          </a:xfrm>
          <a:prstGeom prst="rect">
            <a:avLst/>
          </a:prstGeom>
          <a:solidFill>
            <a:srgbClr val="3C3C43">
              <a:alpha val="12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6534150" y="4714875"/>
            <a:ext cx="24479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6534150" y="5076825"/>
            <a:ext cx="2371725" cy="933450"/>
          </a:xfrm>
          <a:prstGeom prst="roundRect">
            <a:avLst>
              <a:gd name="adj" fmla="val 8163"/>
            </a:avLst>
          </a:prstGeom>
          <a:solidFill>
            <a:srgbClr val="007AFF">
              <a:alpha val="8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6648450" y="5133975"/>
            <a:ext cx="235743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SFR 명세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6648450" y="5419725"/>
            <a:ext cx="221932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SystemRDL (.rdl)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6534150" y="6086475"/>
            <a:ext cx="2371725" cy="666750"/>
          </a:xfrm>
          <a:prstGeom prst="roundRect">
            <a:avLst>
              <a:gd name="adj" fmla="val 11429"/>
            </a:avLst>
          </a:prstGeom>
          <a:solidFill>
            <a:srgbClr val="007AFF">
              <a:alpha val="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6648450" y="6143625"/>
            <a:ext cx="235743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 구현 코드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648450" y="6429375"/>
            <a:ext cx="23574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 / .h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6534150" y="6829425"/>
            <a:ext cx="2371725" cy="681038"/>
          </a:xfrm>
          <a:prstGeom prst="roundRect">
            <a:avLst>
              <a:gd name="adj" fmla="val 11189"/>
            </a:avLst>
          </a:prstGeom>
          <a:solidFill>
            <a:srgbClr val="007AFF">
              <a:alpha val="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6648450" y="6886575"/>
            <a:ext cx="235743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게이트 승인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6648450" y="7172325"/>
            <a:ext cx="235743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HW 제약 체크리스트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9210675" y="2066925"/>
            <a:ext cx="2714625" cy="5614988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9363075" y="2219325"/>
            <a:ext cx="1319585" cy="323850"/>
          </a:xfrm>
          <a:prstGeom prst="roundRect">
            <a:avLst>
              <a:gd name="adj" fmla="val 50000"/>
            </a:avLst>
          </a:prstGeom>
          <a:solidFill>
            <a:srgbClr val="787880">
              <a:alpha val="16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9496425" y="2238375"/>
            <a:ext cx="11848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C3C43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설계자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9363075" y="2638425"/>
            <a:ext cx="248602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C3C4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SystemRDL + HAL을 명세로 받아 설계에만 집중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9363075" y="3350865"/>
            <a:ext cx="28575" cy="617190"/>
          </a:xfrm>
          <a:prstGeom prst="rect">
            <a:avLst/>
          </a:prstGeom>
          <a:solidFill>
            <a:srgbClr val="787880">
              <a:alpha val="4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9486900" y="3350865"/>
            <a:ext cx="236220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인터페이스 논의로 인한 중단·재작업 없음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9363075" y="5100638"/>
            <a:ext cx="2409825" cy="9525"/>
          </a:xfrm>
          <a:prstGeom prst="rect">
            <a:avLst/>
          </a:prstGeom>
          <a:solidFill>
            <a:srgbClr val="3C3C43">
              <a:alpha val="12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9363075" y="5186363"/>
            <a:ext cx="24860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>
            <a:off x="9363075" y="5548313"/>
            <a:ext cx="2409825" cy="962025"/>
          </a:xfrm>
          <a:prstGeom prst="roundRect">
            <a:avLst>
              <a:gd name="adj" fmla="val 7921"/>
            </a:avLst>
          </a:prstGeom>
          <a:solidFill>
            <a:srgbClr val="F2F2F7"/>
          </a:solidFill>
          <a:ln/>
        </p:spPr>
      </p:sp>
      <p:sp>
        <p:nvSpPr>
          <p:cNvPr id="77" name="Text 75"/>
          <p:cNvSpPr/>
          <p:nvPr/>
        </p:nvSpPr>
        <p:spPr>
          <a:xfrm>
            <a:off x="9477375" y="5605463"/>
            <a:ext cx="23993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구현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9477375" y="5891213"/>
            <a:ext cx="2257425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 — SFR 블록은 RDL에서 생성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9363075" y="6586538"/>
            <a:ext cx="2409825" cy="942975"/>
          </a:xfrm>
          <a:prstGeom prst="roundRect">
            <a:avLst>
              <a:gd name="adj" fmla="val 8081"/>
            </a:avLst>
          </a:prstGeom>
          <a:solidFill>
            <a:srgbClr val="FF9500">
              <a:alpha val="10000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9477375" y="6643688"/>
            <a:ext cx="23993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3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SVA assertion</a:t>
            </a:r>
            <a:endParaRPr lang="en-US" sz="1800" dirty="0"/>
          </a:p>
        </p:txBody>
      </p:sp>
      <p:sp>
        <p:nvSpPr>
          <p:cNvPr id="81" name="Text 79"/>
          <p:cNvSpPr/>
          <p:nvPr/>
        </p:nvSpPr>
        <p:spPr>
          <a:xfrm>
            <a:off x="9477375" y="6910388"/>
            <a:ext cx="2257425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RDL·HAL에서 자동 생성</a:t>
            </a:r>
            <a:endParaRPr lang="en-US" sz="1800" dirty="0"/>
          </a:p>
        </p:txBody>
      </p:sp>
      <p:sp>
        <p:nvSpPr>
          <p:cNvPr id="82" name="Shape 80"/>
          <p:cNvSpPr/>
          <p:nvPr/>
        </p:nvSpPr>
        <p:spPr>
          <a:xfrm>
            <a:off x="12058650" y="2066925"/>
            <a:ext cx="2714625" cy="5614988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12211050" y="2219325"/>
            <a:ext cx="1320850" cy="323850"/>
          </a:xfrm>
          <a:prstGeom prst="roundRect">
            <a:avLst>
              <a:gd name="adj" fmla="val 50000"/>
            </a:avLst>
          </a:prstGeom>
          <a:solidFill>
            <a:srgbClr val="FF9500">
              <a:alpha val="16000"/>
            </a:srgbClr>
          </a:solidFill>
          <a:ln/>
        </p:spPr>
      </p:sp>
      <p:sp>
        <p:nvSpPr>
          <p:cNvPr id="84" name="Text 82"/>
          <p:cNvSpPr/>
          <p:nvPr/>
        </p:nvSpPr>
        <p:spPr>
          <a:xfrm>
            <a:off x="12344400" y="2238375"/>
            <a:ext cx="118623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3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+ AI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12211050" y="2638425"/>
            <a:ext cx="2486025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C3C4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FPGA에서 기존 HAL 코드가 그대로 첫 검증 테스트로 실행</a:t>
            </a:r>
            <a:endParaRPr lang="en-US" sz="1800" dirty="0"/>
          </a:p>
        </p:txBody>
      </p:sp>
      <p:sp>
        <p:nvSpPr>
          <p:cNvPr id="86" name="Shape 84"/>
          <p:cNvSpPr/>
          <p:nvPr/>
        </p:nvSpPr>
        <p:spPr>
          <a:xfrm>
            <a:off x="12211050" y="3659460"/>
            <a:ext cx="28575" cy="617190"/>
          </a:xfrm>
          <a:prstGeom prst="rect">
            <a:avLst/>
          </a:prstGeom>
          <a:solidFill>
            <a:srgbClr val="FF9500">
              <a:alpha val="50000"/>
            </a:srgbClr>
          </a:solidFill>
          <a:ln/>
        </p:spPr>
      </p:sp>
      <p:sp>
        <p:nvSpPr>
          <p:cNvPr id="87" name="Text 85"/>
          <p:cNvSpPr/>
          <p:nvPr/>
        </p:nvSpPr>
        <p:spPr>
          <a:xfrm>
            <a:off x="12334875" y="3659460"/>
            <a:ext cx="236220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착수 리드타임 제로 — RTL 완성 즉시 실행</a:t>
            </a:r>
            <a:endParaRPr lang="en-US" sz="1800" dirty="0"/>
          </a:p>
        </p:txBody>
      </p:sp>
      <p:sp>
        <p:nvSpPr>
          <p:cNvPr id="88" name="Shape 86"/>
          <p:cNvSpPr/>
          <p:nvPr/>
        </p:nvSpPr>
        <p:spPr>
          <a:xfrm>
            <a:off x="12211050" y="5362575"/>
            <a:ext cx="2409825" cy="9525"/>
          </a:xfrm>
          <a:prstGeom prst="rect">
            <a:avLst/>
          </a:prstGeom>
          <a:solidFill>
            <a:srgbClr val="3C3C43">
              <a:alpha val="12000"/>
            </a:srgbClr>
          </a:solidFill>
          <a:ln/>
        </p:spPr>
      </p:sp>
      <p:sp>
        <p:nvSpPr>
          <p:cNvPr id="89" name="Text 87"/>
          <p:cNvSpPr/>
          <p:nvPr/>
        </p:nvSpPr>
        <p:spPr>
          <a:xfrm>
            <a:off x="12211050" y="5448300"/>
            <a:ext cx="24860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</a:t>
            </a:r>
            <a:endParaRPr lang="en-US" sz="1800" dirty="0"/>
          </a:p>
        </p:txBody>
      </p:sp>
      <p:sp>
        <p:nvSpPr>
          <p:cNvPr id="90" name="Shape 88"/>
          <p:cNvSpPr/>
          <p:nvPr/>
        </p:nvSpPr>
        <p:spPr>
          <a:xfrm>
            <a:off x="12211050" y="5810250"/>
            <a:ext cx="2409825" cy="681038"/>
          </a:xfrm>
          <a:prstGeom prst="roundRect">
            <a:avLst>
              <a:gd name="adj" fmla="val 11189"/>
            </a:avLst>
          </a:prstGeom>
          <a:solidFill>
            <a:srgbClr val="FF9500">
              <a:alpha val="10000"/>
            </a:srgbClr>
          </a:solidFill>
          <a:ln/>
        </p:spPr>
      </p:sp>
      <p:sp>
        <p:nvSpPr>
          <p:cNvPr id="91" name="Text 89"/>
          <p:cNvSpPr/>
          <p:nvPr/>
        </p:nvSpPr>
        <p:spPr>
          <a:xfrm>
            <a:off x="12325350" y="5867400"/>
            <a:ext cx="23993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3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검증 리포트</a:t>
            </a:r>
            <a:endParaRPr lang="en-US" sz="1800" dirty="0"/>
          </a:p>
        </p:txBody>
      </p:sp>
      <p:sp>
        <p:nvSpPr>
          <p:cNvPr id="92" name="Text 90"/>
          <p:cNvSpPr/>
          <p:nvPr/>
        </p:nvSpPr>
        <p:spPr>
          <a:xfrm>
            <a:off x="12325350" y="6153150"/>
            <a:ext cx="239934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pass/fail 로그</a:t>
            </a:r>
            <a:endParaRPr lang="en-US" sz="1800" dirty="0"/>
          </a:p>
        </p:txBody>
      </p:sp>
      <p:sp>
        <p:nvSpPr>
          <p:cNvPr id="93" name="Shape 91"/>
          <p:cNvSpPr/>
          <p:nvPr/>
        </p:nvSpPr>
        <p:spPr>
          <a:xfrm>
            <a:off x="12211050" y="6567488"/>
            <a:ext cx="2409825" cy="962025"/>
          </a:xfrm>
          <a:prstGeom prst="roundRect">
            <a:avLst>
              <a:gd name="adj" fmla="val 7921"/>
            </a:avLst>
          </a:prstGeom>
          <a:solidFill>
            <a:srgbClr val="FF9500">
              <a:alpha val="10000"/>
            </a:srgbClr>
          </a:solidFill>
          <a:ln/>
        </p:spPr>
      </p:sp>
      <p:sp>
        <p:nvSpPr>
          <p:cNvPr id="94" name="Text 92"/>
          <p:cNvSpPr/>
          <p:nvPr/>
        </p:nvSpPr>
        <p:spPr>
          <a:xfrm>
            <a:off x="12325350" y="6624638"/>
            <a:ext cx="23993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3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 커버리지</a:t>
            </a:r>
            <a:endParaRPr lang="en-US" sz="1800" dirty="0"/>
          </a:p>
        </p:txBody>
      </p:sp>
      <p:sp>
        <p:nvSpPr>
          <p:cNvPr id="95" name="Text 93"/>
          <p:cNvSpPr/>
          <p:nvPr/>
        </p:nvSpPr>
        <p:spPr>
          <a:xfrm>
            <a:off x="12325350" y="6910388"/>
            <a:ext cx="2257425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에러·타임아웃 경로 포함</a:t>
            </a:r>
            <a:endParaRPr lang="en-US" sz="1800" dirty="0"/>
          </a:p>
        </p:txBody>
      </p:sp>
      <p:sp>
        <p:nvSpPr>
          <p:cNvPr id="96" name="Shape 94"/>
          <p:cNvSpPr/>
          <p:nvPr/>
        </p:nvSpPr>
        <p:spPr>
          <a:xfrm>
            <a:off x="14906625" y="2066925"/>
            <a:ext cx="2714625" cy="5614988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15059025" y="2219325"/>
            <a:ext cx="2251546" cy="323850"/>
          </a:xfrm>
          <a:prstGeom prst="roundRect">
            <a:avLst>
              <a:gd name="adj" fmla="val 50000"/>
            </a:avLst>
          </a:prstGeom>
          <a:solidFill>
            <a:srgbClr val="FF9500">
              <a:alpha val="16000"/>
            </a:srgbClr>
          </a:solidFill>
          <a:ln/>
        </p:spPr>
      </p:sp>
      <p:sp>
        <p:nvSpPr>
          <p:cNvPr id="98" name="Text 96"/>
          <p:cNvSpPr/>
          <p:nvPr/>
        </p:nvSpPr>
        <p:spPr>
          <a:xfrm>
            <a:off x="15192375" y="2238375"/>
            <a:ext cx="22100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3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· 아키텍트 승인</a:t>
            </a:r>
            <a:endParaRPr lang="en-US" sz="1800" dirty="0"/>
          </a:p>
        </p:txBody>
      </p:sp>
      <p:sp>
        <p:nvSpPr>
          <p:cNvPr id="99" name="Text 97"/>
          <p:cNvSpPr/>
          <p:nvPr/>
        </p:nvSpPr>
        <p:spPr>
          <a:xfrm>
            <a:off x="15059025" y="2638425"/>
            <a:ext cx="248602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C3C4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확정, 최종 산출물 일괄 배포</a:t>
            </a:r>
            <a:endParaRPr lang="en-US" sz="1800" dirty="0"/>
          </a:p>
        </p:txBody>
      </p:sp>
      <p:sp>
        <p:nvSpPr>
          <p:cNvPr id="100" name="Shape 98"/>
          <p:cNvSpPr/>
          <p:nvPr/>
        </p:nvSpPr>
        <p:spPr>
          <a:xfrm>
            <a:off x="15059025" y="3350865"/>
            <a:ext cx="28575" cy="617190"/>
          </a:xfrm>
          <a:prstGeom prst="rect">
            <a:avLst/>
          </a:prstGeom>
          <a:solidFill>
            <a:srgbClr val="FF9500">
              <a:alpha val="50000"/>
            </a:srgbClr>
          </a:solidFill>
          <a:ln/>
        </p:spPr>
      </p:sp>
      <p:sp>
        <p:nvSpPr>
          <p:cNvPr id="101" name="Text 99"/>
          <p:cNvSpPr/>
          <p:nvPr/>
        </p:nvSpPr>
        <p:spPr>
          <a:xfrm>
            <a:off x="15182850" y="3350865"/>
            <a:ext cx="236220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문서·코드 불일치 원천 차단 — 코드가 SSOT</a:t>
            </a:r>
            <a:endParaRPr lang="en-US" sz="1800" dirty="0"/>
          </a:p>
        </p:txBody>
      </p:sp>
      <p:sp>
        <p:nvSpPr>
          <p:cNvPr id="102" name="Shape 100"/>
          <p:cNvSpPr/>
          <p:nvPr/>
        </p:nvSpPr>
        <p:spPr>
          <a:xfrm>
            <a:off x="15059025" y="5362575"/>
            <a:ext cx="2409825" cy="9525"/>
          </a:xfrm>
          <a:prstGeom prst="rect">
            <a:avLst/>
          </a:prstGeom>
          <a:solidFill>
            <a:srgbClr val="3C3C43">
              <a:alpha val="12000"/>
            </a:srgbClr>
          </a:solidFill>
          <a:ln/>
        </p:spPr>
      </p:sp>
      <p:sp>
        <p:nvSpPr>
          <p:cNvPr id="103" name="Text 101"/>
          <p:cNvSpPr/>
          <p:nvPr/>
        </p:nvSpPr>
        <p:spPr>
          <a:xfrm>
            <a:off x="15059025" y="5448300"/>
            <a:ext cx="24860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</a:t>
            </a:r>
            <a:endParaRPr lang="en-US" sz="1800" dirty="0"/>
          </a:p>
        </p:txBody>
      </p:sp>
      <p:sp>
        <p:nvSpPr>
          <p:cNvPr id="104" name="Shape 102"/>
          <p:cNvSpPr/>
          <p:nvPr/>
        </p:nvSpPr>
        <p:spPr>
          <a:xfrm>
            <a:off x="15059025" y="5810250"/>
            <a:ext cx="2409825" cy="681038"/>
          </a:xfrm>
          <a:prstGeom prst="roundRect">
            <a:avLst>
              <a:gd name="adj" fmla="val 11189"/>
            </a:avLst>
          </a:prstGeom>
          <a:solidFill>
            <a:srgbClr val="FF9500">
              <a:alpha val="10000"/>
            </a:srgbClr>
          </a:solidFill>
          <a:ln/>
        </p:spPr>
      </p:sp>
      <p:sp>
        <p:nvSpPr>
          <p:cNvPr id="105" name="Text 103"/>
          <p:cNvSpPr/>
          <p:nvPr/>
        </p:nvSpPr>
        <p:spPr>
          <a:xfrm>
            <a:off x="15173325" y="5867400"/>
            <a:ext cx="23993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3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SFR 문서 · 가이드</a:t>
            </a:r>
            <a:endParaRPr lang="en-US" sz="1800" dirty="0"/>
          </a:p>
        </p:txBody>
      </p:sp>
      <p:sp>
        <p:nvSpPr>
          <p:cNvPr id="106" name="Text 104"/>
          <p:cNvSpPr/>
          <p:nvPr/>
        </p:nvSpPr>
        <p:spPr>
          <a:xfrm>
            <a:off x="15173325" y="6153150"/>
            <a:ext cx="239934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RDL에서 자동 생성</a:t>
            </a:r>
            <a:endParaRPr lang="en-US" sz="1800" dirty="0"/>
          </a:p>
        </p:txBody>
      </p:sp>
      <p:sp>
        <p:nvSpPr>
          <p:cNvPr id="107" name="Shape 105"/>
          <p:cNvSpPr/>
          <p:nvPr/>
        </p:nvSpPr>
        <p:spPr>
          <a:xfrm>
            <a:off x="15059025" y="6567488"/>
            <a:ext cx="2409825" cy="962025"/>
          </a:xfrm>
          <a:prstGeom prst="roundRect">
            <a:avLst>
              <a:gd name="adj" fmla="val 7921"/>
            </a:avLst>
          </a:prstGeom>
          <a:solidFill>
            <a:srgbClr val="FF9500">
              <a:alpha val="10000"/>
            </a:srgbClr>
          </a:solidFill>
          <a:ln/>
        </p:spPr>
      </p:sp>
      <p:sp>
        <p:nvSpPr>
          <p:cNvPr id="108" name="Text 106"/>
          <p:cNvSpPr/>
          <p:nvPr/>
        </p:nvSpPr>
        <p:spPr>
          <a:xfrm>
            <a:off x="15173325" y="6624638"/>
            <a:ext cx="23993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3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헤더 배포</a:t>
            </a:r>
            <a:endParaRPr lang="en-US" sz="1800" dirty="0"/>
          </a:p>
        </p:txBody>
      </p:sp>
      <p:sp>
        <p:nvSpPr>
          <p:cNvPr id="109" name="Text 107"/>
          <p:cNvSpPr/>
          <p:nvPr/>
        </p:nvSpPr>
        <p:spPr>
          <a:xfrm>
            <a:off x="15173325" y="6910388"/>
            <a:ext cx="2257425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 — 코드와 항상 일치</a:t>
            </a:r>
            <a:endParaRPr lang="en-US" sz="1800" dirty="0"/>
          </a:p>
        </p:txBody>
      </p:sp>
      <p:sp>
        <p:nvSpPr>
          <p:cNvPr id="110" name="Shape 108"/>
          <p:cNvSpPr/>
          <p:nvPr/>
        </p:nvSpPr>
        <p:spPr>
          <a:xfrm>
            <a:off x="666750" y="7834313"/>
            <a:ext cx="16954500" cy="1690688"/>
          </a:xfrm>
          <a:prstGeom prst="roundRect">
            <a:avLst>
              <a:gd name="adj" fmla="val 78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</p:sp>
      <p:sp>
        <p:nvSpPr>
          <p:cNvPr id="111" name="Text 109"/>
          <p:cNvSpPr/>
          <p:nvPr/>
        </p:nvSpPr>
        <p:spPr>
          <a:xfrm>
            <a:off x="895350" y="8022431"/>
            <a:ext cx="367048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펌웨어 개발 관점 — 변경 전후 비교</a:t>
            </a:r>
            <a:endParaRPr lang="en-US" sz="1800" dirty="0"/>
          </a:p>
        </p:txBody>
      </p:sp>
      <p:sp>
        <p:nvSpPr>
          <p:cNvPr id="112" name="Shape 110"/>
          <p:cNvSpPr/>
          <p:nvPr/>
        </p:nvSpPr>
        <p:spPr>
          <a:xfrm>
            <a:off x="14587314" y="7986713"/>
            <a:ext cx="2805336" cy="357188"/>
          </a:xfrm>
          <a:prstGeom prst="roundRect">
            <a:avLst>
              <a:gd name="adj" fmla="val 50000"/>
            </a:avLst>
          </a:prstGeom>
          <a:solidFill>
            <a:srgbClr val="007AFF">
              <a:alpha val="10000"/>
            </a:srgbClr>
          </a:solidFill>
          <a:ln/>
        </p:spPr>
      </p:sp>
      <p:sp>
        <p:nvSpPr>
          <p:cNvPr id="113" name="Text 111"/>
          <p:cNvSpPr/>
          <p:nvPr/>
        </p:nvSpPr>
        <p:spPr>
          <a:xfrm>
            <a:off x="14758764" y="8015288"/>
            <a:ext cx="2742969" cy="3381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3~5개월 Shift-Left</a:t>
            </a:r>
            <a:endParaRPr lang="en-US" sz="1875" dirty="0"/>
          </a:p>
        </p:txBody>
      </p:sp>
      <p:sp>
        <p:nvSpPr>
          <p:cNvPr id="114" name="Text 112"/>
          <p:cNvSpPr/>
          <p:nvPr/>
        </p:nvSpPr>
        <p:spPr>
          <a:xfrm>
            <a:off x="895350" y="8505825"/>
            <a:ext cx="9334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C3C43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</a:t>
            </a:r>
            <a:endParaRPr lang="en-US" sz="1800" dirty="0"/>
          </a:p>
        </p:txBody>
      </p:sp>
      <p:sp>
        <p:nvSpPr>
          <p:cNvPr id="115" name="Shape 113"/>
          <p:cNvSpPr/>
          <p:nvPr/>
        </p:nvSpPr>
        <p:spPr>
          <a:xfrm>
            <a:off x="1866900" y="8439150"/>
            <a:ext cx="3059460" cy="419100"/>
          </a:xfrm>
          <a:prstGeom prst="roundRect">
            <a:avLst>
              <a:gd name="adj" fmla="val 18182"/>
            </a:avLst>
          </a:prstGeom>
          <a:solidFill>
            <a:srgbClr val="E5E5EA"/>
          </a:solidFill>
          <a:ln/>
        </p:spPr>
      </p:sp>
      <p:sp>
        <p:nvSpPr>
          <p:cNvPr id="116" name="Text 114"/>
          <p:cNvSpPr/>
          <p:nvPr/>
        </p:nvSpPr>
        <p:spPr>
          <a:xfrm>
            <a:off x="1821008" y="8505825"/>
            <a:ext cx="31512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C3C43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 → DR (동일)</a:t>
            </a:r>
            <a:endParaRPr lang="en-US" sz="1800" dirty="0"/>
          </a:p>
        </p:txBody>
      </p:sp>
      <p:sp>
        <p:nvSpPr>
          <p:cNvPr id="117" name="Shape 115"/>
          <p:cNvSpPr/>
          <p:nvPr/>
        </p:nvSpPr>
        <p:spPr>
          <a:xfrm>
            <a:off x="5040660" y="8439150"/>
            <a:ext cx="6118845" cy="419100"/>
          </a:xfrm>
          <a:prstGeom prst="roundRect">
            <a:avLst>
              <a:gd name="adj" fmla="val 18182"/>
            </a:avLst>
          </a:prstGeom>
          <a:solidFill>
            <a:srgbClr val="787880">
              <a:alpha val="16000"/>
            </a:srgbClr>
          </a:solidFill>
          <a:ln/>
        </p:spPr>
      </p:sp>
      <p:sp>
        <p:nvSpPr>
          <p:cNvPr id="118" name="Text 116"/>
          <p:cNvSpPr/>
          <p:nvPr/>
        </p:nvSpPr>
        <p:spPr>
          <a:xfrm>
            <a:off x="4948877" y="8505825"/>
            <a:ext cx="63024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C3C43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설계 — FW는 대기</a:t>
            </a:r>
            <a:endParaRPr lang="en-US" sz="1800" dirty="0"/>
          </a:p>
        </p:txBody>
      </p:sp>
      <p:sp>
        <p:nvSpPr>
          <p:cNvPr id="119" name="Shape 117"/>
          <p:cNvSpPr/>
          <p:nvPr/>
        </p:nvSpPr>
        <p:spPr>
          <a:xfrm>
            <a:off x="11273805" y="8439150"/>
            <a:ext cx="6118845" cy="419100"/>
          </a:xfrm>
          <a:prstGeom prst="roundRect">
            <a:avLst>
              <a:gd name="adj" fmla="val 18182"/>
            </a:avLst>
          </a:prstGeom>
          <a:solidFill>
            <a:srgbClr val="FF3B30">
              <a:alpha val="10000"/>
            </a:srgbClr>
          </a:solidFill>
          <a:ln/>
        </p:spPr>
      </p:sp>
      <p:sp>
        <p:nvSpPr>
          <p:cNvPr id="120" name="Text 118"/>
          <p:cNvSpPr/>
          <p:nvPr/>
        </p:nvSpPr>
        <p:spPr>
          <a:xfrm>
            <a:off x="11182022" y="8505825"/>
            <a:ext cx="63024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SVP: SFR 문서·FPGA 동시 도착 → FW 개발 시간 부족</a:t>
            </a:r>
            <a:endParaRPr lang="en-US" sz="1800" dirty="0"/>
          </a:p>
        </p:txBody>
      </p:sp>
      <p:sp>
        <p:nvSpPr>
          <p:cNvPr id="121" name="Text 119"/>
          <p:cNvSpPr/>
          <p:nvPr/>
        </p:nvSpPr>
        <p:spPr>
          <a:xfrm>
            <a:off x="895350" y="9020175"/>
            <a:ext cx="9334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방식</a:t>
            </a:r>
            <a:endParaRPr lang="en-US" sz="1800" dirty="0"/>
          </a:p>
        </p:txBody>
      </p:sp>
      <p:sp>
        <p:nvSpPr>
          <p:cNvPr id="122" name="Shape 120"/>
          <p:cNvSpPr/>
          <p:nvPr/>
        </p:nvSpPr>
        <p:spPr>
          <a:xfrm>
            <a:off x="1866900" y="8953500"/>
            <a:ext cx="3036540" cy="419100"/>
          </a:xfrm>
          <a:prstGeom prst="roundRect">
            <a:avLst>
              <a:gd name="adj" fmla="val 18182"/>
            </a:avLst>
          </a:prstGeom>
          <a:solidFill>
            <a:srgbClr val="E5E5EA"/>
          </a:solidFill>
          <a:ln/>
        </p:spPr>
      </p:sp>
      <p:sp>
        <p:nvSpPr>
          <p:cNvPr id="123" name="Text 121"/>
          <p:cNvSpPr/>
          <p:nvPr/>
        </p:nvSpPr>
        <p:spPr>
          <a:xfrm>
            <a:off x="1821352" y="9020175"/>
            <a:ext cx="31276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C3C43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 → DR (동일)</a:t>
            </a:r>
            <a:endParaRPr lang="en-US" sz="1800" dirty="0"/>
          </a:p>
        </p:txBody>
      </p:sp>
      <p:sp>
        <p:nvSpPr>
          <p:cNvPr id="124" name="Shape 122"/>
          <p:cNvSpPr/>
          <p:nvPr/>
        </p:nvSpPr>
        <p:spPr>
          <a:xfrm>
            <a:off x="5017740" y="8953500"/>
            <a:ext cx="3036615" cy="419100"/>
          </a:xfrm>
          <a:prstGeom prst="roundRect">
            <a:avLst>
              <a:gd name="adj" fmla="val 18182"/>
            </a:avLst>
          </a:prstGeom>
          <a:solidFill>
            <a:srgbClr val="007AFF"/>
          </a:solidFill>
          <a:ln/>
        </p:spPr>
      </p:sp>
      <p:sp>
        <p:nvSpPr>
          <p:cNvPr id="125" name="Text 123"/>
          <p:cNvSpPr/>
          <p:nvPr/>
        </p:nvSpPr>
        <p:spPr>
          <a:xfrm>
            <a:off x="4972191" y="9020175"/>
            <a:ext cx="31277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DR: HAL 코드 완료</a:t>
            </a:r>
            <a:endParaRPr lang="en-US" sz="1800" dirty="0"/>
          </a:p>
        </p:txBody>
      </p:sp>
      <p:sp>
        <p:nvSpPr>
          <p:cNvPr id="126" name="Shape 124"/>
          <p:cNvSpPr/>
          <p:nvPr/>
        </p:nvSpPr>
        <p:spPr>
          <a:xfrm>
            <a:off x="8168655" y="8953500"/>
            <a:ext cx="3036540" cy="419100"/>
          </a:xfrm>
          <a:prstGeom prst="roundRect">
            <a:avLst>
              <a:gd name="adj" fmla="val 18182"/>
            </a:avLst>
          </a:prstGeom>
          <a:solidFill>
            <a:srgbClr val="007AFF">
              <a:alpha val="10000"/>
            </a:srgbClr>
          </a:solidFill>
          <a:ln/>
        </p:spPr>
      </p:sp>
      <p:sp>
        <p:nvSpPr>
          <p:cNvPr id="127" name="Text 125"/>
          <p:cNvSpPr/>
          <p:nvPr/>
        </p:nvSpPr>
        <p:spPr>
          <a:xfrm>
            <a:off x="8123107" y="9020175"/>
            <a:ext cx="31276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테스트·상위 계층 코드 준비</a:t>
            </a:r>
            <a:endParaRPr lang="en-US" sz="1800" dirty="0"/>
          </a:p>
        </p:txBody>
      </p:sp>
      <p:sp>
        <p:nvSpPr>
          <p:cNvPr id="128" name="Shape 126"/>
          <p:cNvSpPr/>
          <p:nvPr/>
        </p:nvSpPr>
        <p:spPr>
          <a:xfrm>
            <a:off x="11319495" y="8953500"/>
            <a:ext cx="6073155" cy="419100"/>
          </a:xfrm>
          <a:prstGeom prst="roundRect">
            <a:avLst>
              <a:gd name="adj" fmla="val 18182"/>
            </a:avLst>
          </a:prstGeom>
          <a:solidFill>
            <a:srgbClr val="007AFF">
              <a:alpha val="10000"/>
            </a:srgbClr>
          </a:solidFill>
          <a:ln/>
        </p:spPr>
      </p:sp>
      <p:sp>
        <p:nvSpPr>
          <p:cNvPr id="129" name="Text 127"/>
          <p:cNvSpPr/>
          <p:nvPr/>
        </p:nvSpPr>
        <p:spPr>
          <a:xfrm>
            <a:off x="11228398" y="9020175"/>
            <a:ext cx="62553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SVP: 테스트 코드·상위 계층까지 즉시 검증</a:t>
            </a:r>
            <a:endParaRPr lang="en-US" sz="1800" dirty="0"/>
          </a:p>
        </p:txBody>
      </p:sp>
      <p:sp>
        <p:nvSpPr>
          <p:cNvPr id="130" name="Shape 128"/>
          <p:cNvSpPr/>
          <p:nvPr/>
        </p:nvSpPr>
        <p:spPr>
          <a:xfrm>
            <a:off x="666750" y="9810750"/>
            <a:ext cx="2545184" cy="1905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131" name="Text 129"/>
          <p:cNvSpPr/>
          <p:nvPr/>
        </p:nvSpPr>
        <p:spPr>
          <a:xfrm>
            <a:off x="3326234" y="9677400"/>
            <a:ext cx="5959487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RTL 착수 전, HW/SW 계약과 HAL 구현 완성 (DR 후 1주)</a:t>
            </a:r>
            <a:endParaRPr lang="en-US" sz="1800" dirty="0"/>
          </a:p>
        </p:txBody>
      </p:sp>
      <p:sp>
        <p:nvSpPr>
          <p:cNvPr id="132" name="Shape 130"/>
          <p:cNvSpPr/>
          <p:nvPr/>
        </p:nvSpPr>
        <p:spPr>
          <a:xfrm>
            <a:off x="8858250" y="9810750"/>
            <a:ext cx="190500" cy="1905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2612886" y="9715500"/>
            <a:ext cx="209550" cy="209550"/>
          </a:xfrm>
          <a:prstGeom prst="roundRect">
            <a:avLst>
              <a:gd name="adj" fmla="val 27273"/>
            </a:avLst>
          </a:prstGeom>
          <a:solidFill>
            <a:srgbClr val="007AFF">
              <a:alpha val="15000"/>
            </a:srgbClr>
          </a:solidFill>
          <a:ln/>
        </p:spPr>
      </p:sp>
      <p:sp>
        <p:nvSpPr>
          <p:cNvPr id="134" name="Text 132"/>
          <p:cNvSpPr/>
          <p:nvPr/>
        </p:nvSpPr>
        <p:spPr>
          <a:xfrm>
            <a:off x="12898636" y="9677400"/>
            <a:ext cx="2777438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확정하는 계약 산출물</a:t>
            </a:r>
            <a:endParaRPr lang="en-US" sz="1800" dirty="0"/>
          </a:p>
        </p:txBody>
      </p:sp>
      <p:sp>
        <p:nvSpPr>
          <p:cNvPr id="135" name="Shape 133"/>
          <p:cNvSpPr/>
          <p:nvPr/>
        </p:nvSpPr>
        <p:spPr>
          <a:xfrm>
            <a:off x="15652179" y="9715500"/>
            <a:ext cx="209550" cy="209550"/>
          </a:xfrm>
          <a:prstGeom prst="roundRect">
            <a:avLst>
              <a:gd name="adj" fmla="val 27273"/>
            </a:avLst>
          </a:prstGeom>
          <a:solidFill>
            <a:srgbClr val="FF9500">
              <a:alpha val="20000"/>
            </a:srgbClr>
          </a:solidFill>
          <a:ln/>
        </p:spPr>
      </p:sp>
      <p:sp>
        <p:nvSpPr>
          <p:cNvPr id="136" name="Text 134"/>
          <p:cNvSpPr/>
          <p:nvPr/>
        </p:nvSpPr>
        <p:spPr>
          <a:xfrm>
            <a:off x="15937929" y="9677400"/>
            <a:ext cx="1851653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3C4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코드에서 자동 생성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2026-07-06T13:32:05Z</dcterms:created>
  <dcterms:modified xsi:type="dcterms:W3CDTF">2026-07-06T13:32:05Z</dcterms:modified>
</cp:coreProperties>
</file>